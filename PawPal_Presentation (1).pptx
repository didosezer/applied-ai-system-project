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3B38"/>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0A7E75"/>
          </a:solidFill>
          <a:ln/>
        </p:spPr>
      </p:sp>
      <p:sp>
        <p:nvSpPr>
          <p:cNvPr id="3" name="Text 1"/>
          <p:cNvSpPr/>
          <p:nvPr/>
        </p:nvSpPr>
        <p:spPr>
          <a:xfrm>
            <a:off x="6858000" y="457200"/>
            <a:ext cx="1828800" cy="18288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4" name="Text 2"/>
          <p:cNvSpPr/>
          <p:nvPr/>
        </p:nvSpPr>
        <p:spPr>
          <a:xfrm>
            <a:off x="640080" y="914400"/>
            <a:ext cx="6400800" cy="1005840"/>
          </a:xfrm>
          <a:prstGeom prst="rect">
            <a:avLst/>
          </a:prstGeom>
          <a:noFill/>
          <a:ln/>
        </p:spPr>
        <p:txBody>
          <a:bodyPr wrap="square" lIns="0" tIns="0" rIns="0" bIns="0" rtlCol="0" anchor="ctr"/>
          <a:lstStyle/>
          <a:p>
            <a:pPr indent="0" marL="0">
              <a:buNone/>
            </a:pPr>
            <a:r>
              <a:rPr lang="en-US" sz="5200" b="1" dirty="0">
                <a:solidFill>
                  <a:srgbClr val="FFFFFF"/>
                </a:solidFill>
                <a:latin typeface="Trebuchet MS" pitchFamily="34" charset="0"/>
                <a:ea typeface="Trebuchet MS" pitchFamily="34" charset="-122"/>
                <a:cs typeface="Trebuchet MS" pitchFamily="34" charset="-120"/>
              </a:rPr>
              <a:t>PawPal+</a:t>
            </a:r>
            <a:endParaRPr lang="en-US" sz="5200" dirty="0"/>
          </a:p>
        </p:txBody>
      </p:sp>
      <p:sp>
        <p:nvSpPr>
          <p:cNvPr id="5" name="Text 3"/>
          <p:cNvSpPr/>
          <p:nvPr/>
        </p:nvSpPr>
        <p:spPr>
          <a:xfrm>
            <a:off x="640080" y="1965960"/>
            <a:ext cx="6400800" cy="548640"/>
          </a:xfrm>
          <a:prstGeom prst="rect">
            <a:avLst/>
          </a:prstGeom>
          <a:noFill/>
          <a:ln/>
        </p:spPr>
        <p:txBody>
          <a:bodyPr wrap="square" lIns="0" tIns="0" rIns="0" bIns="0" rtlCol="0" anchor="ctr"/>
          <a:lstStyle/>
          <a:p>
            <a:pPr indent="0" marL="0">
              <a:buNone/>
            </a:pPr>
            <a:r>
              <a:rPr lang="en-US" sz="2200" dirty="0">
                <a:solidFill>
                  <a:srgbClr val="F4A543"/>
                </a:solidFill>
                <a:latin typeface="Calibri" pitchFamily="34" charset="0"/>
                <a:ea typeface="Calibri" pitchFamily="34" charset="-122"/>
                <a:cs typeface="Calibri" pitchFamily="34" charset="-120"/>
              </a:rPr>
              <a:t>AI-Powered Pet Care Assistant</a:t>
            </a:r>
            <a:endParaRPr lang="en-US" sz="2200" dirty="0"/>
          </a:p>
        </p:txBody>
      </p:sp>
      <p:sp>
        <p:nvSpPr>
          <p:cNvPr id="6" name="Text 4"/>
          <p:cNvSpPr/>
          <p:nvPr/>
        </p:nvSpPr>
        <p:spPr>
          <a:xfrm>
            <a:off x="640080" y="2743200"/>
            <a:ext cx="7315200" cy="411480"/>
          </a:xfrm>
          <a:prstGeom prst="rect">
            <a:avLst/>
          </a:prstGeom>
          <a:noFill/>
          <a:ln/>
        </p:spPr>
        <p:txBody>
          <a:bodyPr wrap="square" lIns="0" tIns="0" rIns="0" bIns="0" rtlCol="0" anchor="ctr"/>
          <a:lstStyle/>
          <a:p>
            <a:pPr indent="0" marL="0">
              <a:buNone/>
            </a:pPr>
            <a:r>
              <a:rPr lang="en-US" sz="1400" dirty="0">
                <a:solidFill>
                  <a:srgbClr val="A8CECA"/>
                </a:solidFill>
                <a:latin typeface="Calibri" pitchFamily="34" charset="0"/>
                <a:ea typeface="Calibri" pitchFamily="34" charset="-122"/>
                <a:cs typeface="Calibri" pitchFamily="34" charset="-120"/>
              </a:rPr>
              <a:t>Applied AI System Project  ·  Agent Orchestration with RAG</a:t>
            </a:r>
            <a:endParaRPr lang="en-US" sz="1400" dirty="0"/>
          </a:p>
        </p:txBody>
      </p:sp>
      <p:sp>
        <p:nvSpPr>
          <p:cNvPr id="7" name="Shape 5"/>
          <p:cNvSpPr/>
          <p:nvPr/>
        </p:nvSpPr>
        <p:spPr>
          <a:xfrm>
            <a:off x="640080" y="4389120"/>
            <a:ext cx="7863840" cy="54864"/>
          </a:xfrm>
          <a:prstGeom prst="rect">
            <a:avLst/>
          </a:prstGeom>
          <a:solidFill>
            <a:srgbClr val="0A7E75"/>
          </a:solidFill>
          <a:ln/>
        </p:spPr>
      </p:sp>
      <p:sp>
        <p:nvSpPr>
          <p:cNvPr id="8" name="Text 6"/>
          <p:cNvSpPr/>
          <p:nvPr/>
        </p:nvSpPr>
        <p:spPr>
          <a:xfrm>
            <a:off x="640080" y="4480560"/>
            <a:ext cx="7863840" cy="365760"/>
          </a:xfrm>
          <a:prstGeom prst="rect">
            <a:avLst/>
          </a:prstGeom>
          <a:noFill/>
          <a:ln/>
        </p:spPr>
        <p:txBody>
          <a:bodyPr wrap="square" lIns="0" tIns="0" rIns="0" bIns="0" rtlCol="0" anchor="ctr"/>
          <a:lstStyle/>
          <a:p>
            <a:pPr indent="0" marL="0">
              <a:buNone/>
            </a:pPr>
            <a:r>
              <a:rPr lang="en-US" sz="1100" dirty="0">
                <a:solidFill>
                  <a:srgbClr val="7AAAA6"/>
                </a:solidFill>
                <a:latin typeface="Calibri" pitchFamily="34" charset="0"/>
                <a:ea typeface="Calibri" pitchFamily="34" charset="-122"/>
                <a:cs typeface="Calibri" pitchFamily="34" charset="-120"/>
              </a:rPr>
              <a:t>github.com/Didosezer/applied-ai-system-project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0D3B38"/>
                </a:solidFill>
                <a:latin typeface="Trebuchet MS" pitchFamily="34" charset="0"/>
                <a:ea typeface="Trebuchet MS" pitchFamily="34" charset="-122"/>
                <a:cs typeface="Trebuchet MS" pitchFamily="34" charset="-120"/>
              </a:rPr>
              <a:t>The Problem</a:t>
            </a:r>
            <a:endParaRPr lang="en-US" sz="3200" dirty="0"/>
          </a:p>
        </p:txBody>
      </p:sp>
      <p:sp>
        <p:nvSpPr>
          <p:cNvPr id="3" name="Shape 1"/>
          <p:cNvSpPr/>
          <p:nvPr/>
        </p:nvSpPr>
        <p:spPr>
          <a:xfrm>
            <a:off x="457200" y="886968"/>
            <a:ext cx="8229600" cy="45720"/>
          </a:xfrm>
          <a:prstGeom prst="rect">
            <a:avLst/>
          </a:prstGeom>
          <a:solidFill>
            <a:srgbClr val="F4A543"/>
          </a:solidFill>
          <a:ln/>
        </p:spPr>
      </p:sp>
      <p:sp>
        <p:nvSpPr>
          <p:cNvPr id="4" name="Shape 2"/>
          <p:cNvSpPr/>
          <p:nvPr/>
        </p:nvSpPr>
        <p:spPr>
          <a:xfrm>
            <a:off x="457200" y="1078992"/>
            <a:ext cx="64008" cy="896112"/>
          </a:xfrm>
          <a:prstGeom prst="rect">
            <a:avLst/>
          </a:prstGeom>
          <a:solidFill>
            <a:srgbClr val="0A7E75"/>
          </a:solidFill>
          <a:ln/>
        </p:spPr>
      </p:sp>
      <p:sp>
        <p:nvSpPr>
          <p:cNvPr id="5" name="Text 3"/>
          <p:cNvSpPr/>
          <p:nvPr/>
        </p:nvSpPr>
        <p:spPr>
          <a:xfrm>
            <a:off x="640080" y="1097280"/>
            <a:ext cx="548640" cy="292608"/>
          </a:xfrm>
          <a:prstGeom prst="rect">
            <a:avLst/>
          </a:prstGeom>
          <a:noFill/>
          <a:ln/>
        </p:spPr>
        <p:txBody>
          <a:bodyPr wrap="square" lIns="0" tIns="0" rIns="0" bIns="0" rtlCol="0" anchor="ctr"/>
          <a:lstStyle/>
          <a:p>
            <a:pPr indent="0" marL="0">
              <a:buNone/>
            </a:pPr>
            <a:r>
              <a:rPr lang="en-US" sz="1800" b="1" dirty="0">
                <a:solidFill>
                  <a:srgbClr val="0A7E75"/>
                </a:solidFill>
                <a:latin typeface="Trebuchet MS" pitchFamily="34" charset="0"/>
                <a:ea typeface="Trebuchet MS" pitchFamily="34" charset="-122"/>
                <a:cs typeface="Trebuchet MS" pitchFamily="34" charset="-120"/>
              </a:rPr>
              <a:t>01</a:t>
            </a:r>
            <a:endParaRPr lang="en-US" sz="1800" dirty="0"/>
          </a:p>
        </p:txBody>
      </p:sp>
      <p:sp>
        <p:nvSpPr>
          <p:cNvPr id="6" name="Text 4"/>
          <p:cNvSpPr/>
          <p:nvPr/>
        </p:nvSpPr>
        <p:spPr>
          <a:xfrm>
            <a:off x="640080" y="1389888"/>
            <a:ext cx="7955280" cy="274320"/>
          </a:xfrm>
          <a:prstGeom prst="rect">
            <a:avLst/>
          </a:prstGeom>
          <a:noFill/>
          <a:ln/>
        </p:spPr>
        <p:txBody>
          <a:bodyPr wrap="square" lIns="0" tIns="0" rIns="0" bIns="0" rtlCol="0" anchor="ctr"/>
          <a:lstStyle/>
          <a:p>
            <a:pPr indent="0" marL="0">
              <a:buNone/>
            </a:pPr>
            <a:r>
              <a:rPr lang="en-US" sz="1400" b="1" dirty="0">
                <a:solidFill>
                  <a:srgbClr val="0D3B38"/>
                </a:solidFill>
                <a:latin typeface="Trebuchet MS" pitchFamily="34" charset="0"/>
                <a:ea typeface="Trebuchet MS" pitchFamily="34" charset="-122"/>
                <a:cs typeface="Trebuchet MS" pitchFamily="34" charset="-120"/>
              </a:rPr>
              <a:t>Task Tracking Across Multiple Pets</a:t>
            </a:r>
            <a:endParaRPr lang="en-US" sz="1400" dirty="0"/>
          </a:p>
        </p:txBody>
      </p:sp>
      <p:sp>
        <p:nvSpPr>
          <p:cNvPr id="7" name="Shape 5"/>
          <p:cNvSpPr/>
          <p:nvPr/>
        </p:nvSpPr>
        <p:spPr>
          <a:xfrm>
            <a:off x="640080" y="1664208"/>
            <a:ext cx="7955280" cy="384048"/>
          </a:xfrm>
          <a:prstGeom prst="roundRect">
            <a:avLst/>
          </a:prstGeom>
          <a:solidFill>
            <a:srgbClr val="E8F5F4"/>
          </a:solidFill>
          <a:ln w="12700">
            <a:solidFill>
              <a:srgbClr val="C8E6E4"/>
            </a:solidFill>
            <a:prstDash val="solid"/>
          </a:ln>
        </p:spPr>
      </p:sp>
      <p:sp>
        <p:nvSpPr>
          <p:cNvPr id="8" name="Text 6"/>
          <p:cNvSpPr/>
          <p:nvPr/>
        </p:nvSpPr>
        <p:spPr>
          <a:xfrm>
            <a:off x="777240" y="1700784"/>
            <a:ext cx="7680960" cy="320040"/>
          </a:xfrm>
          <a:prstGeom prst="rect">
            <a:avLst/>
          </a:prstGeom>
          <a:noFill/>
          <a:ln/>
        </p:spPr>
        <p:txBody>
          <a:bodyPr wrap="square" lIns="0" tIns="0" rIns="0" bIns="0" rtlCol="0" anchor="ctr"/>
          <a:lstStyle/>
          <a:p>
            <a:pPr indent="0" marL="0">
              <a:buNone/>
            </a:pPr>
            <a:r>
              <a:rPr lang="en-US" sz="1100" dirty="0">
                <a:solidFill>
                  <a:srgbClr val="1A2B2A"/>
                </a:solidFill>
                <a:latin typeface="Calibri" pitchFamily="34" charset="0"/>
                <a:ea typeface="Calibri" pitchFamily="34" charset="-122"/>
                <a:cs typeface="Calibri" pitchFamily="34" charset="-120"/>
              </a:rPr>
              <a:t>🐾  Pet owners with multiple pets struggle to track each animal's individual tasks — vaccinations, grooming, feeding, and vet appointments pile up with no unified system.</a:t>
            </a:r>
            <a:endParaRPr lang="en-US" sz="1100" dirty="0"/>
          </a:p>
        </p:txBody>
      </p:sp>
      <p:sp>
        <p:nvSpPr>
          <p:cNvPr id="9" name="Shape 7"/>
          <p:cNvSpPr/>
          <p:nvPr/>
        </p:nvSpPr>
        <p:spPr>
          <a:xfrm>
            <a:off x="457200" y="2084832"/>
            <a:ext cx="64008" cy="896112"/>
          </a:xfrm>
          <a:prstGeom prst="rect">
            <a:avLst/>
          </a:prstGeom>
          <a:solidFill>
            <a:srgbClr val="F4A543"/>
          </a:solidFill>
          <a:ln/>
        </p:spPr>
      </p:sp>
      <p:sp>
        <p:nvSpPr>
          <p:cNvPr id="10" name="Text 8"/>
          <p:cNvSpPr/>
          <p:nvPr/>
        </p:nvSpPr>
        <p:spPr>
          <a:xfrm>
            <a:off x="640080" y="2103120"/>
            <a:ext cx="548640" cy="292608"/>
          </a:xfrm>
          <a:prstGeom prst="rect">
            <a:avLst/>
          </a:prstGeom>
          <a:noFill/>
          <a:ln/>
        </p:spPr>
        <p:txBody>
          <a:bodyPr wrap="square" lIns="0" tIns="0" rIns="0" bIns="0" rtlCol="0" anchor="ctr"/>
          <a:lstStyle/>
          <a:p>
            <a:pPr indent="0" marL="0">
              <a:buNone/>
            </a:pPr>
            <a:r>
              <a:rPr lang="en-US" sz="1800" b="1" dirty="0">
                <a:solidFill>
                  <a:srgbClr val="F4A543"/>
                </a:solidFill>
                <a:latin typeface="Trebuchet MS" pitchFamily="34" charset="0"/>
                <a:ea typeface="Trebuchet MS" pitchFamily="34" charset="-122"/>
                <a:cs typeface="Trebuchet MS" pitchFamily="34" charset="-120"/>
              </a:rPr>
              <a:t>02</a:t>
            </a:r>
            <a:endParaRPr lang="en-US" sz="1800" dirty="0"/>
          </a:p>
        </p:txBody>
      </p:sp>
      <p:sp>
        <p:nvSpPr>
          <p:cNvPr id="11" name="Text 9"/>
          <p:cNvSpPr/>
          <p:nvPr/>
        </p:nvSpPr>
        <p:spPr>
          <a:xfrm>
            <a:off x="640080" y="2395728"/>
            <a:ext cx="7955280" cy="274320"/>
          </a:xfrm>
          <a:prstGeom prst="rect">
            <a:avLst/>
          </a:prstGeom>
          <a:noFill/>
          <a:ln/>
        </p:spPr>
        <p:txBody>
          <a:bodyPr wrap="square" lIns="0" tIns="0" rIns="0" bIns="0" rtlCol="0" anchor="ctr"/>
          <a:lstStyle/>
          <a:p>
            <a:pPr indent="0" marL="0">
              <a:buNone/>
            </a:pPr>
            <a:r>
              <a:rPr lang="en-US" sz="1400" b="1" dirty="0">
                <a:solidFill>
                  <a:srgbClr val="0D3B38"/>
                </a:solidFill>
                <a:latin typeface="Trebuchet MS" pitchFamily="34" charset="0"/>
                <a:ea typeface="Trebuchet MS" pitchFamily="34" charset="-122"/>
                <a:cs typeface="Trebuchet MS" pitchFamily="34" charset="-120"/>
              </a:rPr>
              <a:t>Breed-Specific Daily &amp; Healthcare Guidance</a:t>
            </a:r>
            <a:endParaRPr lang="en-US" sz="1400" dirty="0"/>
          </a:p>
        </p:txBody>
      </p:sp>
      <p:sp>
        <p:nvSpPr>
          <p:cNvPr id="12" name="Shape 10"/>
          <p:cNvSpPr/>
          <p:nvPr/>
        </p:nvSpPr>
        <p:spPr>
          <a:xfrm>
            <a:off x="640080" y="2670048"/>
            <a:ext cx="7955280" cy="384048"/>
          </a:xfrm>
          <a:prstGeom prst="roundRect">
            <a:avLst/>
          </a:prstGeom>
          <a:solidFill>
            <a:srgbClr val="E8F5F4"/>
          </a:solidFill>
          <a:ln w="12700">
            <a:solidFill>
              <a:srgbClr val="C8E6E4"/>
            </a:solidFill>
            <a:prstDash val="solid"/>
          </a:ln>
        </p:spPr>
      </p:sp>
      <p:sp>
        <p:nvSpPr>
          <p:cNvPr id="13" name="Text 11"/>
          <p:cNvSpPr/>
          <p:nvPr/>
        </p:nvSpPr>
        <p:spPr>
          <a:xfrm>
            <a:off x="777240" y="2706624"/>
            <a:ext cx="7680960" cy="320040"/>
          </a:xfrm>
          <a:prstGeom prst="rect">
            <a:avLst/>
          </a:prstGeom>
          <a:noFill/>
          <a:ln/>
        </p:spPr>
        <p:txBody>
          <a:bodyPr wrap="square" lIns="0" tIns="0" rIns="0" bIns="0" rtlCol="0" anchor="ctr"/>
          <a:lstStyle/>
          <a:p>
            <a:pPr indent="0" marL="0">
              <a:buNone/>
            </a:pPr>
            <a:r>
              <a:rPr lang="en-US" sz="1100" dirty="0">
                <a:solidFill>
                  <a:srgbClr val="1A2B2A"/>
                </a:solidFill>
                <a:latin typeface="Calibri" pitchFamily="34" charset="0"/>
                <a:ea typeface="Calibri" pitchFamily="34" charset="-122"/>
                <a:cs typeface="Calibri" pitchFamily="34" charset="-120"/>
              </a:rPr>
              <a:t>🏥  Different breeds have fundamentally different care needs. Generic reminders ignore this — a French Bulldog's heat restrictions or a Samoyed's grooming schedule require advice grounded in veterinary practice.</a:t>
            </a:r>
            <a:endParaRPr lang="en-US" sz="1100" dirty="0"/>
          </a:p>
        </p:txBody>
      </p:sp>
      <p:sp>
        <p:nvSpPr>
          <p:cNvPr id="14" name="Shape 12"/>
          <p:cNvSpPr/>
          <p:nvPr/>
        </p:nvSpPr>
        <p:spPr>
          <a:xfrm>
            <a:off x="457200" y="3090672"/>
            <a:ext cx="64008" cy="896112"/>
          </a:xfrm>
          <a:prstGeom prst="rect">
            <a:avLst/>
          </a:prstGeom>
          <a:solidFill>
            <a:srgbClr val="5B8FA8"/>
          </a:solidFill>
          <a:ln/>
        </p:spPr>
      </p:sp>
      <p:sp>
        <p:nvSpPr>
          <p:cNvPr id="15" name="Text 13"/>
          <p:cNvSpPr/>
          <p:nvPr/>
        </p:nvSpPr>
        <p:spPr>
          <a:xfrm>
            <a:off x="640080" y="3108960"/>
            <a:ext cx="548640" cy="292608"/>
          </a:xfrm>
          <a:prstGeom prst="rect">
            <a:avLst/>
          </a:prstGeom>
          <a:noFill/>
          <a:ln/>
        </p:spPr>
        <p:txBody>
          <a:bodyPr wrap="square" lIns="0" tIns="0" rIns="0" bIns="0" rtlCol="0" anchor="ctr"/>
          <a:lstStyle/>
          <a:p>
            <a:pPr indent="0" marL="0">
              <a:buNone/>
            </a:pPr>
            <a:r>
              <a:rPr lang="en-US" sz="1800" b="1" dirty="0">
                <a:solidFill>
                  <a:srgbClr val="5B8FA8"/>
                </a:solidFill>
                <a:latin typeface="Trebuchet MS" pitchFamily="34" charset="0"/>
                <a:ea typeface="Trebuchet MS" pitchFamily="34" charset="-122"/>
                <a:cs typeface="Trebuchet MS" pitchFamily="34" charset="-120"/>
              </a:rPr>
              <a:t>03</a:t>
            </a:r>
            <a:endParaRPr lang="en-US" sz="1800" dirty="0"/>
          </a:p>
        </p:txBody>
      </p:sp>
      <p:sp>
        <p:nvSpPr>
          <p:cNvPr id="16" name="Text 14"/>
          <p:cNvSpPr/>
          <p:nvPr/>
        </p:nvSpPr>
        <p:spPr>
          <a:xfrm>
            <a:off x="640080" y="3401568"/>
            <a:ext cx="7955280" cy="274320"/>
          </a:xfrm>
          <a:prstGeom prst="rect">
            <a:avLst/>
          </a:prstGeom>
          <a:noFill/>
          <a:ln/>
        </p:spPr>
        <p:txBody>
          <a:bodyPr wrap="square" lIns="0" tIns="0" rIns="0" bIns="0" rtlCol="0" anchor="ctr"/>
          <a:lstStyle/>
          <a:p>
            <a:pPr indent="0" marL="0">
              <a:buNone/>
            </a:pPr>
            <a:r>
              <a:rPr lang="en-US" sz="1400" b="1" dirty="0">
                <a:solidFill>
                  <a:srgbClr val="0D3B38"/>
                </a:solidFill>
                <a:latin typeface="Trebuchet MS" pitchFamily="34" charset="0"/>
                <a:ea typeface="Trebuchet MS" pitchFamily="34" charset="-122"/>
                <a:cs typeface="Trebuchet MS" pitchFamily="34" charset="-120"/>
              </a:rPr>
              <a:t>Too Much Manual Form-Filling to Create Tasks</a:t>
            </a:r>
            <a:endParaRPr lang="en-US" sz="1400" dirty="0"/>
          </a:p>
        </p:txBody>
      </p:sp>
      <p:sp>
        <p:nvSpPr>
          <p:cNvPr id="17" name="Shape 15"/>
          <p:cNvSpPr/>
          <p:nvPr/>
        </p:nvSpPr>
        <p:spPr>
          <a:xfrm>
            <a:off x="640080" y="3675888"/>
            <a:ext cx="7955280" cy="384048"/>
          </a:xfrm>
          <a:prstGeom prst="roundRect">
            <a:avLst/>
          </a:prstGeom>
          <a:solidFill>
            <a:srgbClr val="E8F5F4"/>
          </a:solidFill>
          <a:ln w="12700">
            <a:solidFill>
              <a:srgbClr val="C8E6E4"/>
            </a:solidFill>
            <a:prstDash val="solid"/>
          </a:ln>
        </p:spPr>
      </p:sp>
      <p:sp>
        <p:nvSpPr>
          <p:cNvPr id="18" name="Text 16"/>
          <p:cNvSpPr/>
          <p:nvPr/>
        </p:nvSpPr>
        <p:spPr>
          <a:xfrm>
            <a:off x="777240" y="3712464"/>
            <a:ext cx="7680960" cy="320040"/>
          </a:xfrm>
          <a:prstGeom prst="rect">
            <a:avLst/>
          </a:prstGeom>
          <a:noFill/>
          <a:ln/>
        </p:spPr>
        <p:txBody>
          <a:bodyPr wrap="square" lIns="0" tIns="0" rIns="0" bIns="0" rtlCol="0" anchor="ctr"/>
          <a:lstStyle/>
          <a:p>
            <a:pPr indent="0" marL="0">
              <a:buNone/>
            </a:pPr>
            <a:r>
              <a:rPr lang="en-US" sz="1100" dirty="0">
                <a:solidFill>
                  <a:srgbClr val="1A2B2A"/>
                </a:solidFill>
                <a:latin typeface="Calibri" pitchFamily="34" charset="0"/>
                <a:ea typeface="Calibri" pitchFamily="34" charset="-122"/>
                <a:cs typeface="Calibri" pitchFamily="34" charset="-120"/>
              </a:rPr>
              <a:t>📝  Traditional task managers force owners to fill in forms for every task. Owners should simply send a text message — and let the AI handle the rest.</a:t>
            </a:r>
            <a:endParaRPr lang="en-US" sz="1100" dirty="0"/>
          </a:p>
        </p:txBody>
      </p:sp>
      <p:sp>
        <p:nvSpPr>
          <p:cNvPr id="19" name="Shape 17"/>
          <p:cNvSpPr/>
          <p:nvPr/>
        </p:nvSpPr>
        <p:spPr>
          <a:xfrm>
            <a:off x="457200" y="4169664"/>
            <a:ext cx="8229600" cy="713232"/>
          </a:xfrm>
          <a:prstGeom prst="roundRect">
            <a:avLst/>
          </a:prstGeom>
          <a:solidFill>
            <a:srgbClr val="0A7E75"/>
          </a:solidFill>
          <a:ln/>
        </p:spPr>
      </p:sp>
      <p:sp>
        <p:nvSpPr>
          <p:cNvPr id="20" name="Text 18"/>
          <p:cNvSpPr/>
          <p:nvPr/>
        </p:nvSpPr>
        <p:spPr>
          <a:xfrm>
            <a:off x="457200" y="4169664"/>
            <a:ext cx="8229600" cy="7132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Solution: An AI agent that unifies multi-pet task tracking, breed-specific medical guidance,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and natural language task creation — no forms required.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indent="0" marL="0">
              <a:buNone/>
            </a:pPr>
            <a:r>
              <a:rPr lang="en-US" sz="3200" b="1" dirty="0">
                <a:solidFill>
                  <a:srgbClr val="0D3B38"/>
                </a:solidFill>
                <a:latin typeface="Trebuchet MS" pitchFamily="34" charset="0"/>
                <a:ea typeface="Trebuchet MS" pitchFamily="34" charset="-122"/>
                <a:cs typeface="Trebuchet MS" pitchFamily="34" charset="-120"/>
              </a:rPr>
              <a:t>How the AI Works</a:t>
            </a:r>
            <a:endParaRPr lang="en-US" sz="3200" dirty="0"/>
          </a:p>
        </p:txBody>
      </p:sp>
      <p:sp>
        <p:nvSpPr>
          <p:cNvPr id="3" name="Shape 1"/>
          <p:cNvSpPr/>
          <p:nvPr/>
        </p:nvSpPr>
        <p:spPr>
          <a:xfrm>
            <a:off x="457200" y="804672"/>
            <a:ext cx="8229600" cy="45720"/>
          </a:xfrm>
          <a:prstGeom prst="rect">
            <a:avLst/>
          </a:prstGeom>
          <a:solidFill>
            <a:srgbClr val="F4A543"/>
          </a:solidFill>
          <a:ln/>
        </p:spPr>
      </p:sp>
      <p:sp>
        <p:nvSpPr>
          <p:cNvPr id="4" name="Shape 2"/>
          <p:cNvSpPr/>
          <p:nvPr/>
        </p:nvSpPr>
        <p:spPr>
          <a:xfrm>
            <a:off x="274320" y="960120"/>
            <a:ext cx="64008" cy="347472"/>
          </a:xfrm>
          <a:prstGeom prst="rect">
            <a:avLst/>
          </a:prstGeom>
          <a:solidFill>
            <a:srgbClr val="5B8FA8"/>
          </a:solidFill>
          <a:ln/>
        </p:spPr>
      </p:sp>
      <p:sp>
        <p:nvSpPr>
          <p:cNvPr id="5" name="Text 3"/>
          <p:cNvSpPr/>
          <p:nvPr/>
        </p:nvSpPr>
        <p:spPr>
          <a:xfrm>
            <a:off x="457200" y="960120"/>
            <a:ext cx="8229600" cy="347472"/>
          </a:xfrm>
          <a:prstGeom prst="rect">
            <a:avLst/>
          </a:prstGeom>
          <a:noFill/>
          <a:ln/>
        </p:spPr>
        <p:txBody>
          <a:bodyPr wrap="square" lIns="0" tIns="0" rIns="0" bIns="0" rtlCol="0" anchor="ctr"/>
          <a:lstStyle/>
          <a:p>
            <a:pPr indent="0" marL="0">
              <a:buNone/>
            </a:pPr>
            <a:r>
              <a:rPr lang="en-US" sz="1500" b="1" dirty="0">
                <a:solidFill>
                  <a:srgbClr val="5B8FA8"/>
                </a:solidFill>
                <a:latin typeface="Trebuchet MS" pitchFamily="34" charset="0"/>
                <a:ea typeface="Trebuchet MS" pitchFamily="34" charset="-122"/>
                <a:cs typeface="Trebuchet MS" pitchFamily="34" charset="-120"/>
              </a:rPr>
              <a:t>🧠  The Logic — How does the AI think?  (RAG + Agentic Loop)</a:t>
            </a:r>
            <a:endParaRPr lang="en-US" sz="1500" dirty="0"/>
          </a:p>
        </p:txBody>
      </p:sp>
      <p:sp>
        <p:nvSpPr>
          <p:cNvPr id="6" name="Shape 4"/>
          <p:cNvSpPr/>
          <p:nvPr/>
        </p:nvSpPr>
        <p:spPr>
          <a:xfrm>
            <a:off x="274320" y="1417320"/>
            <a:ext cx="1920240" cy="1143000"/>
          </a:xfrm>
          <a:prstGeom prst="rect">
            <a:avLst/>
          </a:prstGeom>
          <a:solidFill>
            <a:srgbClr val="E8F5F4"/>
          </a:solidFill>
          <a:ln w="19050">
            <a:solidFill>
              <a:srgbClr val="B0D8D5"/>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274320" y="1463040"/>
            <a:ext cx="1920240" cy="365760"/>
          </a:xfrm>
          <a:prstGeom prst="rect">
            <a:avLst/>
          </a:prstGeom>
          <a:noFill/>
          <a:ln/>
        </p:spPr>
        <p:txBody>
          <a:bodyPr wrap="square" lIns="0" tIns="0" rIns="0" bIns="0" rtlCol="0" anchor="ctr"/>
          <a:lstStyle/>
          <a:p>
            <a:pPr algn="ctr" indent="0" marL="0">
              <a:buNone/>
            </a:pPr>
            <a:r>
              <a:rPr lang="en-US" sz="1100" b="1" dirty="0">
                <a:solidFill>
                  <a:srgbClr val="0D3B38"/>
                </a:solidFill>
                <a:latin typeface="Trebuchet MS" pitchFamily="34" charset="0"/>
                <a:ea typeface="Trebuchet MS" pitchFamily="34" charset="-122"/>
                <a:cs typeface="Trebuchet MS" pitchFamily="34" charset="-120"/>
              </a:rPr>
              <a:t>User Message</a:t>
            </a:r>
            <a:endParaRPr lang="en-US" sz="1100" dirty="0"/>
          </a:p>
        </p:txBody>
      </p:sp>
      <p:sp>
        <p:nvSpPr>
          <p:cNvPr id="8" name="Text 6"/>
          <p:cNvSpPr/>
          <p:nvPr/>
        </p:nvSpPr>
        <p:spPr>
          <a:xfrm>
            <a:off x="274320" y="1828800"/>
            <a:ext cx="1920240" cy="640080"/>
          </a:xfrm>
          <a:prstGeom prst="rect">
            <a:avLst/>
          </a:prstGeom>
          <a:noFill/>
          <a:ln/>
        </p:spPr>
        <p:txBody>
          <a:bodyPr wrap="square" lIns="50800" tIns="50800" rIns="50800" bIns="50800" rtlCol="0" anchor="ctr"/>
          <a:lstStyle/>
          <a:p>
            <a:pPr algn="ctr" indent="0" marL="0">
              <a:buNone/>
            </a:pPr>
            <a:r>
              <a:rPr lang="en-US" sz="950" dirty="0">
                <a:solidFill>
                  <a:srgbClr val="5A7A77"/>
                </a:solidFill>
                <a:latin typeface="Calibri" pitchFamily="34" charset="0"/>
                <a:ea typeface="Calibri" pitchFamily="34" charset="-122"/>
                <a:cs typeface="Calibri" pitchFamily="34" charset="-120"/>
              </a:rPr>
              <a:t>Natural language</a:t>
            </a:r>
            <a:endParaRPr lang="en-US" sz="950" dirty="0"/>
          </a:p>
          <a:p>
            <a:pPr algn="ctr" indent="0" marL="0">
              <a:buNone/>
            </a:pPr>
            <a:r>
              <a:rPr lang="en-US" sz="950" dirty="0">
                <a:solidFill>
                  <a:srgbClr val="5A7A77"/>
                </a:solidFill>
                <a:latin typeface="Calibri" pitchFamily="34" charset="0"/>
                <a:ea typeface="Calibri" pitchFamily="34" charset="-122"/>
                <a:cs typeface="Calibri" pitchFamily="34" charset="-120"/>
              </a:rPr>
              <a:t>request</a:t>
            </a:r>
            <a:endParaRPr lang="en-US" sz="950" dirty="0"/>
          </a:p>
        </p:txBody>
      </p:sp>
      <p:sp>
        <p:nvSpPr>
          <p:cNvPr id="9" name="Shape 7"/>
          <p:cNvSpPr/>
          <p:nvPr/>
        </p:nvSpPr>
        <p:spPr>
          <a:xfrm>
            <a:off x="2194560" y="1984248"/>
            <a:ext cx="457200" cy="0"/>
          </a:xfrm>
          <a:prstGeom prst="line">
            <a:avLst/>
          </a:prstGeom>
          <a:noFill/>
          <a:ln w="25400">
            <a:solidFill>
              <a:srgbClr val="5B8FA8"/>
            </a:solidFill>
            <a:prstDash val="solid"/>
          </a:ln>
        </p:spPr>
      </p:sp>
      <p:sp>
        <p:nvSpPr>
          <p:cNvPr id="10" name="Text 8"/>
          <p:cNvSpPr/>
          <p:nvPr/>
        </p:nvSpPr>
        <p:spPr>
          <a:xfrm>
            <a:off x="2450592" y="1874520"/>
            <a:ext cx="182880" cy="228600"/>
          </a:xfrm>
          <a:prstGeom prst="rect">
            <a:avLst/>
          </a:prstGeom>
          <a:noFill/>
          <a:ln/>
        </p:spPr>
        <p:txBody>
          <a:bodyPr wrap="square" lIns="0" tIns="0" rIns="0" bIns="0" rtlCol="0" anchor="ctr"/>
          <a:lstStyle/>
          <a:p>
            <a:pPr indent="0" marL="0">
              <a:buNone/>
            </a:pPr>
            <a:r>
              <a:rPr lang="en-US" sz="1000" dirty="0">
                <a:solidFill>
                  <a:srgbClr val="5B8FA8"/>
                </a:solidFill>
              </a:rPr>
              <a:t>▶</a:t>
            </a:r>
            <a:endParaRPr lang="en-US" sz="1000" dirty="0"/>
          </a:p>
        </p:txBody>
      </p:sp>
      <p:sp>
        <p:nvSpPr>
          <p:cNvPr id="11" name="Shape 9"/>
          <p:cNvSpPr/>
          <p:nvPr/>
        </p:nvSpPr>
        <p:spPr>
          <a:xfrm>
            <a:off x="2377440" y="1417320"/>
            <a:ext cx="1920240" cy="1143000"/>
          </a:xfrm>
          <a:prstGeom prst="rect">
            <a:avLst/>
          </a:prstGeom>
          <a:solidFill>
            <a:srgbClr val="5B8FA8"/>
          </a:solidFill>
          <a:ln w="19050">
            <a:solidFill>
              <a:srgbClr val="5B8FA8"/>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2377440" y="1463040"/>
            <a:ext cx="19202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Agent Orchestrator</a:t>
            </a:r>
            <a:endParaRPr lang="en-US" sz="1100" dirty="0"/>
          </a:p>
        </p:txBody>
      </p:sp>
      <p:sp>
        <p:nvSpPr>
          <p:cNvPr id="13" name="Text 11"/>
          <p:cNvSpPr/>
          <p:nvPr/>
        </p:nvSpPr>
        <p:spPr>
          <a:xfrm>
            <a:off x="2377440" y="1828800"/>
            <a:ext cx="1920240" cy="640080"/>
          </a:xfrm>
          <a:prstGeom prst="rect">
            <a:avLst/>
          </a:prstGeom>
          <a:noFill/>
          <a:ln/>
        </p:spPr>
        <p:txBody>
          <a:bodyPr wrap="square" lIns="50800" tIns="50800" rIns="50800" bIns="50800" rtlCol="0" anchor="ctr"/>
          <a:lstStyle/>
          <a:p>
            <a:pPr algn="ctr" indent="0" marL="0">
              <a:buNone/>
            </a:pPr>
            <a:r>
              <a:rPr lang="en-US" sz="950" dirty="0">
                <a:solidFill>
                  <a:srgbClr val="D0E8F5"/>
                </a:solidFill>
                <a:latin typeface="Calibri" pitchFamily="34" charset="0"/>
                <a:ea typeface="Calibri" pitchFamily="34" charset="-122"/>
                <a:cs typeface="Calibri" pitchFamily="34" charset="-120"/>
              </a:rPr>
              <a:t>agent_orchestrator.py</a:t>
            </a:r>
            <a:endParaRPr lang="en-US" sz="950" dirty="0"/>
          </a:p>
          <a:p>
            <a:pPr algn="ctr" indent="0" marL="0">
              <a:buNone/>
            </a:pPr>
            <a:r>
              <a:rPr lang="en-US" sz="950" dirty="0">
                <a:solidFill>
                  <a:srgbClr val="D0E8F5"/>
                </a:solidFill>
                <a:latin typeface="Calibri" pitchFamily="34" charset="0"/>
                <a:ea typeface="Calibri" pitchFamily="34" charset="-122"/>
                <a:cs typeface="Calibri" pitchFamily="34" charset="-120"/>
              </a:rPr>
              <a:t>Function calling loop</a:t>
            </a:r>
            <a:endParaRPr lang="en-US" sz="950" dirty="0"/>
          </a:p>
        </p:txBody>
      </p:sp>
      <p:sp>
        <p:nvSpPr>
          <p:cNvPr id="14" name="Shape 12"/>
          <p:cNvSpPr/>
          <p:nvPr/>
        </p:nvSpPr>
        <p:spPr>
          <a:xfrm>
            <a:off x="4297680" y="1984248"/>
            <a:ext cx="457200" cy="0"/>
          </a:xfrm>
          <a:prstGeom prst="line">
            <a:avLst/>
          </a:prstGeom>
          <a:noFill/>
          <a:ln w="25400">
            <a:solidFill>
              <a:srgbClr val="5B8FA8"/>
            </a:solidFill>
            <a:prstDash val="solid"/>
          </a:ln>
        </p:spPr>
      </p:sp>
      <p:sp>
        <p:nvSpPr>
          <p:cNvPr id="15" name="Text 13"/>
          <p:cNvSpPr/>
          <p:nvPr/>
        </p:nvSpPr>
        <p:spPr>
          <a:xfrm>
            <a:off x="4553712" y="1874520"/>
            <a:ext cx="182880" cy="228600"/>
          </a:xfrm>
          <a:prstGeom prst="rect">
            <a:avLst/>
          </a:prstGeom>
          <a:noFill/>
          <a:ln/>
        </p:spPr>
        <p:txBody>
          <a:bodyPr wrap="square" lIns="0" tIns="0" rIns="0" bIns="0" rtlCol="0" anchor="ctr"/>
          <a:lstStyle/>
          <a:p>
            <a:pPr indent="0" marL="0">
              <a:buNone/>
            </a:pPr>
            <a:r>
              <a:rPr lang="en-US" sz="1000" dirty="0">
                <a:solidFill>
                  <a:srgbClr val="5B8FA8"/>
                </a:solidFill>
              </a:rPr>
              <a:t>▶</a:t>
            </a:r>
            <a:endParaRPr lang="en-US" sz="1000" dirty="0"/>
          </a:p>
        </p:txBody>
      </p:sp>
      <p:sp>
        <p:nvSpPr>
          <p:cNvPr id="16" name="Shape 14"/>
          <p:cNvSpPr/>
          <p:nvPr/>
        </p:nvSpPr>
        <p:spPr>
          <a:xfrm>
            <a:off x="4480560" y="1417320"/>
            <a:ext cx="1920240" cy="1143000"/>
          </a:xfrm>
          <a:prstGeom prst="rect">
            <a:avLst/>
          </a:prstGeom>
          <a:solidFill>
            <a:srgbClr val="E8F5F4"/>
          </a:solidFill>
          <a:ln w="19050">
            <a:solidFill>
              <a:srgbClr val="B0D8D5"/>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4480560" y="1463040"/>
            <a:ext cx="1920240" cy="365760"/>
          </a:xfrm>
          <a:prstGeom prst="rect">
            <a:avLst/>
          </a:prstGeom>
          <a:noFill/>
          <a:ln/>
        </p:spPr>
        <p:txBody>
          <a:bodyPr wrap="square" lIns="0" tIns="0" rIns="0" bIns="0" rtlCol="0" anchor="ctr"/>
          <a:lstStyle/>
          <a:p>
            <a:pPr algn="ctr" indent="0" marL="0">
              <a:buNone/>
            </a:pPr>
            <a:r>
              <a:rPr lang="en-US" sz="1100" b="1" dirty="0">
                <a:solidFill>
                  <a:srgbClr val="0D3B38"/>
                </a:solidFill>
                <a:latin typeface="Trebuchet MS" pitchFamily="34" charset="0"/>
                <a:ea typeface="Trebuchet MS" pitchFamily="34" charset="-122"/>
                <a:cs typeface="Trebuchet MS" pitchFamily="34" charset="-120"/>
              </a:rPr>
              <a:t>RAG Search</a:t>
            </a:r>
            <a:endParaRPr lang="en-US" sz="1100" dirty="0"/>
          </a:p>
        </p:txBody>
      </p:sp>
      <p:sp>
        <p:nvSpPr>
          <p:cNvPr id="18" name="Text 16"/>
          <p:cNvSpPr/>
          <p:nvPr/>
        </p:nvSpPr>
        <p:spPr>
          <a:xfrm>
            <a:off x="4480560" y="1828800"/>
            <a:ext cx="1920240" cy="640080"/>
          </a:xfrm>
          <a:prstGeom prst="rect">
            <a:avLst/>
          </a:prstGeom>
          <a:noFill/>
          <a:ln/>
        </p:spPr>
        <p:txBody>
          <a:bodyPr wrap="square" lIns="50800" tIns="50800" rIns="50800" bIns="50800" rtlCol="0" anchor="ctr"/>
          <a:lstStyle/>
          <a:p>
            <a:pPr algn="ctr" indent="0" marL="0">
              <a:buNone/>
            </a:pPr>
            <a:r>
              <a:rPr lang="en-US" sz="950" dirty="0">
                <a:solidFill>
                  <a:srgbClr val="5A7A77"/>
                </a:solidFill>
                <a:latin typeface="Calibri" pitchFamily="34" charset="0"/>
                <a:ea typeface="Calibri" pitchFamily="34" charset="-122"/>
                <a:cs typeface="Calibri" pitchFamily="34" charset="-120"/>
              </a:rPr>
              <a:t>ChromaDB</a:t>
            </a:r>
            <a:endParaRPr lang="en-US" sz="950" dirty="0"/>
          </a:p>
          <a:p>
            <a:pPr algn="ctr" indent="0" marL="0">
              <a:buNone/>
            </a:pPr>
            <a:r>
              <a:rPr lang="en-US" sz="950" dirty="0">
                <a:solidFill>
                  <a:srgbClr val="5A7A77"/>
                </a:solidFill>
                <a:latin typeface="Calibri" pitchFamily="34" charset="0"/>
                <a:ea typeface="Calibri" pitchFamily="34" charset="-122"/>
                <a:cs typeface="Calibri" pitchFamily="34" charset="-120"/>
              </a:rPr>
              <a:t>Knowledge base</a:t>
            </a:r>
            <a:endParaRPr lang="en-US" sz="950" dirty="0"/>
          </a:p>
        </p:txBody>
      </p:sp>
      <p:sp>
        <p:nvSpPr>
          <p:cNvPr id="19" name="Shape 17"/>
          <p:cNvSpPr/>
          <p:nvPr/>
        </p:nvSpPr>
        <p:spPr>
          <a:xfrm>
            <a:off x="6400800" y="1984248"/>
            <a:ext cx="457200" cy="0"/>
          </a:xfrm>
          <a:prstGeom prst="line">
            <a:avLst/>
          </a:prstGeom>
          <a:noFill/>
          <a:ln w="25400">
            <a:solidFill>
              <a:srgbClr val="5B8FA8"/>
            </a:solidFill>
            <a:prstDash val="solid"/>
          </a:ln>
        </p:spPr>
      </p:sp>
      <p:sp>
        <p:nvSpPr>
          <p:cNvPr id="20" name="Text 18"/>
          <p:cNvSpPr/>
          <p:nvPr/>
        </p:nvSpPr>
        <p:spPr>
          <a:xfrm>
            <a:off x="6656832" y="1874520"/>
            <a:ext cx="182880" cy="228600"/>
          </a:xfrm>
          <a:prstGeom prst="rect">
            <a:avLst/>
          </a:prstGeom>
          <a:noFill/>
          <a:ln/>
        </p:spPr>
        <p:txBody>
          <a:bodyPr wrap="square" lIns="0" tIns="0" rIns="0" bIns="0" rtlCol="0" anchor="ctr"/>
          <a:lstStyle/>
          <a:p>
            <a:pPr indent="0" marL="0">
              <a:buNone/>
            </a:pPr>
            <a:r>
              <a:rPr lang="en-US" sz="1000" dirty="0">
                <a:solidFill>
                  <a:srgbClr val="5B8FA8"/>
                </a:solidFill>
              </a:rPr>
              <a:t>▶</a:t>
            </a:r>
            <a:endParaRPr lang="en-US" sz="1000" dirty="0"/>
          </a:p>
        </p:txBody>
      </p:sp>
      <p:sp>
        <p:nvSpPr>
          <p:cNvPr id="21" name="Shape 19"/>
          <p:cNvSpPr/>
          <p:nvPr/>
        </p:nvSpPr>
        <p:spPr>
          <a:xfrm>
            <a:off x="6583680" y="1417320"/>
            <a:ext cx="1920240" cy="1143000"/>
          </a:xfrm>
          <a:prstGeom prst="rect">
            <a:avLst/>
          </a:prstGeom>
          <a:solidFill>
            <a:srgbClr val="E8F5F4"/>
          </a:solidFill>
          <a:ln w="19050">
            <a:solidFill>
              <a:srgbClr val="B0D8D5"/>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6583680" y="1463040"/>
            <a:ext cx="1920240" cy="365760"/>
          </a:xfrm>
          <a:prstGeom prst="rect">
            <a:avLst/>
          </a:prstGeom>
          <a:noFill/>
          <a:ln/>
        </p:spPr>
        <p:txBody>
          <a:bodyPr wrap="square" lIns="0" tIns="0" rIns="0" bIns="0" rtlCol="0" anchor="ctr"/>
          <a:lstStyle/>
          <a:p>
            <a:pPr algn="ctr" indent="0" marL="0">
              <a:buNone/>
            </a:pPr>
            <a:r>
              <a:rPr lang="en-US" sz="1100" b="1" dirty="0">
                <a:solidFill>
                  <a:srgbClr val="0D3B38"/>
                </a:solidFill>
                <a:latin typeface="Trebuchet MS" pitchFamily="34" charset="0"/>
                <a:ea typeface="Trebuchet MS" pitchFamily="34" charset="-122"/>
                <a:cs typeface="Trebuchet MS" pitchFamily="34" charset="-120"/>
              </a:rPr>
              <a:t>Task Creator</a:t>
            </a:r>
            <a:endParaRPr lang="en-US" sz="1100" dirty="0"/>
          </a:p>
        </p:txBody>
      </p:sp>
      <p:sp>
        <p:nvSpPr>
          <p:cNvPr id="23" name="Text 21"/>
          <p:cNvSpPr/>
          <p:nvPr/>
        </p:nvSpPr>
        <p:spPr>
          <a:xfrm>
            <a:off x="6583680" y="1828800"/>
            <a:ext cx="1920240" cy="640080"/>
          </a:xfrm>
          <a:prstGeom prst="rect">
            <a:avLst/>
          </a:prstGeom>
          <a:noFill/>
          <a:ln/>
        </p:spPr>
        <p:txBody>
          <a:bodyPr wrap="square" lIns="50800" tIns="50800" rIns="50800" bIns="50800" rtlCol="0" anchor="ctr"/>
          <a:lstStyle/>
          <a:p>
            <a:pPr algn="ctr" indent="0" marL="0">
              <a:buNone/>
            </a:pPr>
            <a:r>
              <a:rPr lang="en-US" sz="950" dirty="0">
                <a:solidFill>
                  <a:srgbClr val="5A7A77"/>
                </a:solidFill>
                <a:latin typeface="Calibri" pitchFamily="34" charset="0"/>
                <a:ea typeface="Calibri" pitchFamily="34" charset="-122"/>
                <a:cs typeface="Calibri" pitchFamily="34" charset="-120"/>
              </a:rPr>
              <a:t>Stages task</a:t>
            </a:r>
            <a:endParaRPr lang="en-US" sz="950" dirty="0"/>
          </a:p>
          <a:p>
            <a:pPr algn="ctr" indent="0" marL="0">
              <a:buNone/>
            </a:pPr>
            <a:r>
              <a:rPr lang="en-US" sz="950" dirty="0">
                <a:solidFill>
                  <a:srgbClr val="5A7A77"/>
                </a:solidFill>
                <a:latin typeface="Calibri" pitchFamily="34" charset="0"/>
                <a:ea typeface="Calibri" pitchFamily="34" charset="-122"/>
                <a:cs typeface="Calibri" pitchFamily="34" charset="-120"/>
              </a:rPr>
              <a:t>for approval</a:t>
            </a:r>
            <a:endParaRPr lang="en-US" sz="950" dirty="0"/>
          </a:p>
        </p:txBody>
      </p:sp>
      <p:sp>
        <p:nvSpPr>
          <p:cNvPr id="24" name="Shape 22"/>
          <p:cNvSpPr/>
          <p:nvPr/>
        </p:nvSpPr>
        <p:spPr>
          <a:xfrm>
            <a:off x="2468880" y="2651760"/>
            <a:ext cx="2194560" cy="0"/>
          </a:xfrm>
          <a:prstGeom prst="line">
            <a:avLst/>
          </a:prstGeom>
          <a:noFill/>
          <a:ln w="19050">
            <a:solidFill>
              <a:srgbClr val="F4A543"/>
            </a:solidFill>
            <a:prstDash val="dash"/>
          </a:ln>
        </p:spPr>
      </p:sp>
      <p:sp>
        <p:nvSpPr>
          <p:cNvPr id="25" name="Text 23"/>
          <p:cNvSpPr/>
          <p:nvPr/>
        </p:nvSpPr>
        <p:spPr>
          <a:xfrm>
            <a:off x="2286000" y="2679192"/>
            <a:ext cx="2743200" cy="228600"/>
          </a:xfrm>
          <a:prstGeom prst="rect">
            <a:avLst/>
          </a:prstGeom>
          <a:noFill/>
          <a:ln/>
        </p:spPr>
        <p:txBody>
          <a:bodyPr wrap="square" lIns="0" tIns="0" rIns="0" bIns="0" rtlCol="0" anchor="ctr"/>
          <a:lstStyle/>
          <a:p>
            <a:pPr indent="0" marL="0">
              <a:buNone/>
            </a:pPr>
            <a:r>
              <a:rPr lang="en-US" sz="900" i="1" dirty="0">
                <a:solidFill>
                  <a:srgbClr val="F4A543"/>
                </a:solidFill>
                <a:latin typeface="Calibri" pitchFamily="34" charset="0"/>
                <a:ea typeface="Calibri" pitchFamily="34" charset="-122"/>
                <a:cs typeface="Calibri" pitchFamily="34" charset="-120"/>
              </a:rPr>
              <a:t>↺  loops up to 6 iterations</a:t>
            </a:r>
            <a:endParaRPr lang="en-US" sz="900" dirty="0"/>
          </a:p>
        </p:txBody>
      </p:sp>
      <p:sp>
        <p:nvSpPr>
          <p:cNvPr id="26" name="Shape 24"/>
          <p:cNvSpPr/>
          <p:nvPr/>
        </p:nvSpPr>
        <p:spPr>
          <a:xfrm>
            <a:off x="274320" y="3017520"/>
            <a:ext cx="64008" cy="347472"/>
          </a:xfrm>
          <a:prstGeom prst="rect">
            <a:avLst/>
          </a:prstGeom>
          <a:solidFill>
            <a:srgbClr val="F4A543"/>
          </a:solidFill>
          <a:ln/>
        </p:spPr>
      </p:sp>
      <p:sp>
        <p:nvSpPr>
          <p:cNvPr id="27" name="Text 25"/>
          <p:cNvSpPr/>
          <p:nvPr/>
        </p:nvSpPr>
        <p:spPr>
          <a:xfrm>
            <a:off x="457200" y="3017520"/>
            <a:ext cx="8229600" cy="347472"/>
          </a:xfrm>
          <a:prstGeom prst="rect">
            <a:avLst/>
          </a:prstGeom>
          <a:noFill/>
          <a:ln/>
        </p:spPr>
        <p:txBody>
          <a:bodyPr wrap="square" lIns="0" tIns="0" rIns="0" bIns="0" rtlCol="0" anchor="ctr"/>
          <a:lstStyle/>
          <a:p>
            <a:pPr indent="0" marL="0">
              <a:buNone/>
            </a:pPr>
            <a:r>
              <a:rPr lang="en-US" sz="1500" b="1" dirty="0">
                <a:solidFill>
                  <a:srgbClr val="F4A543"/>
                </a:solidFill>
                <a:latin typeface="Trebuchet MS" pitchFamily="34" charset="0"/>
                <a:ea typeface="Trebuchet MS" pitchFamily="34" charset="-122"/>
                <a:cs typeface="Trebuchet MS" pitchFamily="34" charset="-120"/>
              </a:rPr>
              <a:t>🔒  The Reliability — How do we know it works?  (Testing &amp; Guardrails)</a:t>
            </a:r>
            <a:endParaRPr lang="en-US" sz="1500" dirty="0"/>
          </a:p>
        </p:txBody>
      </p:sp>
      <p:sp>
        <p:nvSpPr>
          <p:cNvPr id="28" name="Shape 26"/>
          <p:cNvSpPr/>
          <p:nvPr/>
        </p:nvSpPr>
        <p:spPr>
          <a:xfrm>
            <a:off x="274320" y="3456432"/>
            <a:ext cx="4251960" cy="475488"/>
          </a:xfrm>
          <a:prstGeom prst="roundRect">
            <a:avLst/>
          </a:prstGeom>
          <a:solidFill>
            <a:srgbClr val="E8F5F4"/>
          </a:solidFill>
          <a:ln w="12700">
            <a:solidFill>
              <a:srgbClr val="C8E6E4"/>
            </a:solidFill>
            <a:prstDash val="solid"/>
          </a:ln>
        </p:spPr>
      </p:sp>
      <p:sp>
        <p:nvSpPr>
          <p:cNvPr id="29" name="Text 27"/>
          <p:cNvSpPr/>
          <p:nvPr/>
        </p:nvSpPr>
        <p:spPr>
          <a:xfrm>
            <a:off x="365760" y="3511296"/>
            <a:ext cx="365760" cy="36576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30" name="Text 28"/>
          <p:cNvSpPr/>
          <p:nvPr/>
        </p:nvSpPr>
        <p:spPr>
          <a:xfrm>
            <a:off x="731520" y="3511296"/>
            <a:ext cx="3657600" cy="201168"/>
          </a:xfrm>
          <a:prstGeom prst="rect">
            <a:avLst/>
          </a:prstGeom>
          <a:noFill/>
          <a:ln/>
        </p:spPr>
        <p:txBody>
          <a:bodyPr wrap="square" lIns="0" tIns="0" rIns="0" bIns="0" rtlCol="0" anchor="ctr"/>
          <a:lstStyle/>
          <a:p>
            <a:pPr indent="0" marL="0">
              <a:buNone/>
            </a:pPr>
            <a:r>
              <a:rPr lang="en-US" sz="1100" b="1" dirty="0">
                <a:solidFill>
                  <a:srgbClr val="0D3B38"/>
                </a:solidFill>
                <a:latin typeface="Trebuchet MS" pitchFamily="34" charset="0"/>
                <a:ea typeface="Trebuchet MS" pitchFamily="34" charset="-122"/>
                <a:cs typeface="Trebuchet MS" pitchFamily="34" charset="-120"/>
              </a:rPr>
              <a:t>RAG-first constraint</a:t>
            </a:r>
            <a:endParaRPr lang="en-US" sz="1100" dirty="0"/>
          </a:p>
        </p:txBody>
      </p:sp>
      <p:sp>
        <p:nvSpPr>
          <p:cNvPr id="31" name="Text 29"/>
          <p:cNvSpPr/>
          <p:nvPr/>
        </p:nvSpPr>
        <p:spPr>
          <a:xfrm>
            <a:off x="731520" y="3703320"/>
            <a:ext cx="3657600" cy="201168"/>
          </a:xfrm>
          <a:prstGeom prst="rect">
            <a:avLst/>
          </a:prstGeom>
          <a:noFill/>
          <a:ln/>
        </p:spPr>
        <p:txBody>
          <a:bodyPr wrap="square" lIns="0" tIns="0" rIns="0" bIns="0" rtlCol="0" anchor="ctr"/>
          <a:lstStyle/>
          <a:p>
            <a:pPr indent="0" marL="0">
              <a:buNone/>
            </a:pPr>
            <a:r>
              <a:rPr lang="en-US" sz="950" dirty="0">
                <a:solidFill>
                  <a:srgbClr val="5A7A77"/>
                </a:solidFill>
                <a:latin typeface="Calibri" pitchFamily="34" charset="0"/>
                <a:ea typeface="Calibri" pitchFamily="34" charset="-122"/>
                <a:cs typeface="Calibri" pitchFamily="34" charset="-120"/>
              </a:rPr>
              <a:t>System prompt forces rag_search before any advice — AI cannot use outside knowledge</a:t>
            </a:r>
            <a:endParaRPr lang="en-US" sz="950" dirty="0"/>
          </a:p>
        </p:txBody>
      </p:sp>
      <p:sp>
        <p:nvSpPr>
          <p:cNvPr id="32" name="Shape 30"/>
          <p:cNvSpPr/>
          <p:nvPr/>
        </p:nvSpPr>
        <p:spPr>
          <a:xfrm>
            <a:off x="4709160" y="3456432"/>
            <a:ext cx="4251960" cy="475488"/>
          </a:xfrm>
          <a:prstGeom prst="roundRect">
            <a:avLst/>
          </a:prstGeom>
          <a:solidFill>
            <a:srgbClr val="E8F5F4"/>
          </a:solidFill>
          <a:ln w="12700">
            <a:solidFill>
              <a:srgbClr val="C8E6E4"/>
            </a:solidFill>
            <a:prstDash val="solid"/>
          </a:ln>
        </p:spPr>
      </p:sp>
      <p:sp>
        <p:nvSpPr>
          <p:cNvPr id="33" name="Text 31"/>
          <p:cNvSpPr/>
          <p:nvPr/>
        </p:nvSpPr>
        <p:spPr>
          <a:xfrm>
            <a:off x="4800600" y="3511296"/>
            <a:ext cx="365760" cy="36576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34" name="Text 32"/>
          <p:cNvSpPr/>
          <p:nvPr/>
        </p:nvSpPr>
        <p:spPr>
          <a:xfrm>
            <a:off x="5166360" y="3511296"/>
            <a:ext cx="3657600" cy="201168"/>
          </a:xfrm>
          <a:prstGeom prst="rect">
            <a:avLst/>
          </a:prstGeom>
          <a:noFill/>
          <a:ln/>
        </p:spPr>
        <p:txBody>
          <a:bodyPr wrap="square" lIns="0" tIns="0" rIns="0" bIns="0" rtlCol="0" anchor="ctr"/>
          <a:lstStyle/>
          <a:p>
            <a:pPr indent="0" marL="0">
              <a:buNone/>
            </a:pPr>
            <a:r>
              <a:rPr lang="en-US" sz="1100" b="1" dirty="0">
                <a:solidFill>
                  <a:srgbClr val="0D3B38"/>
                </a:solidFill>
                <a:latin typeface="Trebuchet MS" pitchFamily="34" charset="0"/>
                <a:ea typeface="Trebuchet MS" pitchFamily="34" charset="-122"/>
                <a:cs typeface="Trebuchet MS" pitchFamily="34" charset="-120"/>
              </a:rPr>
              <a:t>Staged approval</a:t>
            </a:r>
            <a:endParaRPr lang="en-US" sz="1100" dirty="0"/>
          </a:p>
        </p:txBody>
      </p:sp>
      <p:sp>
        <p:nvSpPr>
          <p:cNvPr id="35" name="Text 33"/>
          <p:cNvSpPr/>
          <p:nvPr/>
        </p:nvSpPr>
        <p:spPr>
          <a:xfrm>
            <a:off x="5166360" y="3703320"/>
            <a:ext cx="3657600" cy="201168"/>
          </a:xfrm>
          <a:prstGeom prst="rect">
            <a:avLst/>
          </a:prstGeom>
          <a:noFill/>
          <a:ln/>
        </p:spPr>
        <p:txBody>
          <a:bodyPr wrap="square" lIns="0" tIns="0" rIns="0" bIns="0" rtlCol="0" anchor="ctr"/>
          <a:lstStyle/>
          <a:p>
            <a:pPr indent="0" marL="0">
              <a:buNone/>
            </a:pPr>
            <a:r>
              <a:rPr lang="en-US" sz="950" dirty="0">
                <a:solidFill>
                  <a:srgbClr val="5A7A77"/>
                </a:solidFill>
                <a:latin typeface="Calibri" pitchFamily="34" charset="0"/>
                <a:ea typeface="Calibri" pitchFamily="34" charset="-122"/>
                <a:cs typeface="Calibri" pitchFamily="34" charset="-120"/>
              </a:rPr>
              <a:t>Tasks are never committed to the schedule until the owner explicitly approves them</a:t>
            </a:r>
            <a:endParaRPr lang="en-US" sz="950" dirty="0"/>
          </a:p>
        </p:txBody>
      </p:sp>
      <p:sp>
        <p:nvSpPr>
          <p:cNvPr id="36" name="Shape 34"/>
          <p:cNvSpPr/>
          <p:nvPr/>
        </p:nvSpPr>
        <p:spPr>
          <a:xfrm>
            <a:off x="274320" y="4005072"/>
            <a:ext cx="4251960" cy="475488"/>
          </a:xfrm>
          <a:prstGeom prst="roundRect">
            <a:avLst/>
          </a:prstGeom>
          <a:solidFill>
            <a:srgbClr val="E8F5F4"/>
          </a:solidFill>
          <a:ln w="12700">
            <a:solidFill>
              <a:srgbClr val="C8E6E4"/>
            </a:solidFill>
            <a:prstDash val="solid"/>
          </a:ln>
        </p:spPr>
      </p:sp>
      <p:sp>
        <p:nvSpPr>
          <p:cNvPr id="37" name="Text 35"/>
          <p:cNvSpPr/>
          <p:nvPr/>
        </p:nvSpPr>
        <p:spPr>
          <a:xfrm>
            <a:off x="365760" y="4059936"/>
            <a:ext cx="365760" cy="36576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38" name="Text 36"/>
          <p:cNvSpPr/>
          <p:nvPr/>
        </p:nvSpPr>
        <p:spPr>
          <a:xfrm>
            <a:off x="731520" y="4059936"/>
            <a:ext cx="3657600" cy="201168"/>
          </a:xfrm>
          <a:prstGeom prst="rect">
            <a:avLst/>
          </a:prstGeom>
          <a:noFill/>
          <a:ln/>
        </p:spPr>
        <p:txBody>
          <a:bodyPr wrap="square" lIns="0" tIns="0" rIns="0" bIns="0" rtlCol="0" anchor="ctr"/>
          <a:lstStyle/>
          <a:p>
            <a:pPr indent="0" marL="0">
              <a:buNone/>
            </a:pPr>
            <a:r>
              <a:rPr lang="en-US" sz="1100" b="1" dirty="0">
                <a:solidFill>
                  <a:srgbClr val="0D3B38"/>
                </a:solidFill>
                <a:latin typeface="Trebuchet MS" pitchFamily="34" charset="0"/>
                <a:ea typeface="Trebuchet MS" pitchFamily="34" charset="-122"/>
                <a:cs typeface="Trebuchet MS" pitchFamily="34" charset="-120"/>
              </a:rPr>
              <a:t>MAX_ITERATIONS = 6</a:t>
            </a:r>
            <a:endParaRPr lang="en-US" sz="1100" dirty="0"/>
          </a:p>
        </p:txBody>
      </p:sp>
      <p:sp>
        <p:nvSpPr>
          <p:cNvPr id="39" name="Text 37"/>
          <p:cNvSpPr/>
          <p:nvPr/>
        </p:nvSpPr>
        <p:spPr>
          <a:xfrm>
            <a:off x="731520" y="4251960"/>
            <a:ext cx="3657600" cy="201168"/>
          </a:xfrm>
          <a:prstGeom prst="rect">
            <a:avLst/>
          </a:prstGeom>
          <a:noFill/>
          <a:ln/>
        </p:spPr>
        <p:txBody>
          <a:bodyPr wrap="square" lIns="0" tIns="0" rIns="0" bIns="0" rtlCol="0" anchor="ctr"/>
          <a:lstStyle/>
          <a:p>
            <a:pPr indent="0" marL="0">
              <a:buNone/>
            </a:pPr>
            <a:r>
              <a:rPr lang="en-US" sz="950" dirty="0">
                <a:solidFill>
                  <a:srgbClr val="5A7A77"/>
                </a:solidFill>
                <a:latin typeface="Calibri" pitchFamily="34" charset="0"/>
                <a:ea typeface="Calibri" pitchFamily="34" charset="-122"/>
                <a:cs typeface="Calibri" pitchFamily="34" charset="-120"/>
              </a:rPr>
              <a:t>Loop guard stops runaway agent behavior and handles unexpected finish_reason values</a:t>
            </a:r>
            <a:endParaRPr lang="en-US" sz="950" dirty="0"/>
          </a:p>
        </p:txBody>
      </p:sp>
      <p:sp>
        <p:nvSpPr>
          <p:cNvPr id="40" name="Shape 38"/>
          <p:cNvSpPr/>
          <p:nvPr/>
        </p:nvSpPr>
        <p:spPr>
          <a:xfrm>
            <a:off x="4709160" y="4005072"/>
            <a:ext cx="4251960" cy="475488"/>
          </a:xfrm>
          <a:prstGeom prst="roundRect">
            <a:avLst/>
          </a:prstGeom>
          <a:solidFill>
            <a:srgbClr val="E8F5F4"/>
          </a:solidFill>
          <a:ln w="12700">
            <a:solidFill>
              <a:srgbClr val="C8E6E4"/>
            </a:solidFill>
            <a:prstDash val="solid"/>
          </a:ln>
        </p:spPr>
      </p:sp>
      <p:sp>
        <p:nvSpPr>
          <p:cNvPr id="41" name="Text 39"/>
          <p:cNvSpPr/>
          <p:nvPr/>
        </p:nvSpPr>
        <p:spPr>
          <a:xfrm>
            <a:off x="4800600" y="4059936"/>
            <a:ext cx="365760" cy="36576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42" name="Text 40"/>
          <p:cNvSpPr/>
          <p:nvPr/>
        </p:nvSpPr>
        <p:spPr>
          <a:xfrm>
            <a:off x="5166360" y="4059936"/>
            <a:ext cx="3657600" cy="201168"/>
          </a:xfrm>
          <a:prstGeom prst="rect">
            <a:avLst/>
          </a:prstGeom>
          <a:noFill/>
          <a:ln/>
        </p:spPr>
        <p:txBody>
          <a:bodyPr wrap="square" lIns="0" tIns="0" rIns="0" bIns="0" rtlCol="0" anchor="ctr"/>
          <a:lstStyle/>
          <a:p>
            <a:pPr indent="0" marL="0">
              <a:buNone/>
            </a:pPr>
            <a:r>
              <a:rPr lang="en-US" sz="1100" b="1" dirty="0">
                <a:solidFill>
                  <a:srgbClr val="0D3B38"/>
                </a:solidFill>
                <a:latin typeface="Trebuchet MS" pitchFamily="34" charset="0"/>
                <a:ea typeface="Trebuchet MS" pitchFamily="34" charset="-122"/>
                <a:cs typeface="Trebuchet MS" pitchFamily="34" charset="-120"/>
              </a:rPr>
              <a:t>Multilingual</a:t>
            </a:r>
            <a:endParaRPr lang="en-US" sz="1100" dirty="0"/>
          </a:p>
        </p:txBody>
      </p:sp>
      <p:sp>
        <p:nvSpPr>
          <p:cNvPr id="43" name="Text 41"/>
          <p:cNvSpPr/>
          <p:nvPr/>
        </p:nvSpPr>
        <p:spPr>
          <a:xfrm>
            <a:off x="5166360" y="4251960"/>
            <a:ext cx="3657600" cy="201168"/>
          </a:xfrm>
          <a:prstGeom prst="rect">
            <a:avLst/>
          </a:prstGeom>
          <a:noFill/>
          <a:ln/>
        </p:spPr>
        <p:txBody>
          <a:bodyPr wrap="square" lIns="0" tIns="0" rIns="0" bIns="0" rtlCol="0" anchor="ctr"/>
          <a:lstStyle/>
          <a:p>
            <a:pPr indent="0" marL="0">
              <a:buNone/>
            </a:pPr>
            <a:r>
              <a:rPr lang="en-US" sz="950" dirty="0">
                <a:solidFill>
                  <a:srgbClr val="5A7A77"/>
                </a:solidFill>
                <a:latin typeface="Calibri" pitchFamily="34" charset="0"/>
                <a:ea typeface="Calibri" pitchFamily="34" charset="-122"/>
                <a:cs typeface="Calibri" pitchFamily="34" charset="-120"/>
              </a:rPr>
              <a:t>Agent detects user language and responds accordingly — tested in English and Chinese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D3B38"/>
          </a:solidFill>
          <a:ln/>
        </p:spPr>
      </p:sp>
      <p:sp>
        <p:nvSpPr>
          <p:cNvPr id="3" name="Text 1"/>
          <p:cNvSpPr/>
          <p:nvPr/>
        </p:nvSpPr>
        <p:spPr>
          <a:xfrm>
            <a:off x="457200" y="54864"/>
            <a:ext cx="4572000" cy="274320"/>
          </a:xfrm>
          <a:prstGeom prst="rect">
            <a:avLst/>
          </a:prstGeom>
          <a:noFill/>
          <a:ln/>
        </p:spPr>
        <p:txBody>
          <a:bodyPr wrap="square" lIns="0" tIns="0" rIns="0" bIns="0" rtlCol="0" anchor="ctr"/>
          <a:lstStyle/>
          <a:p>
            <a:pPr indent="0" marL="0">
              <a:buNone/>
            </a:pPr>
            <a:r>
              <a:rPr lang="en-US" sz="1100" b="1" dirty="0">
                <a:solidFill>
                  <a:srgbClr val="7AAAA6"/>
                </a:solidFill>
                <a:latin typeface="Calibri" pitchFamily="34" charset="0"/>
                <a:ea typeface="Calibri" pitchFamily="34" charset="-122"/>
                <a:cs typeface="Calibri" pitchFamily="34" charset="-120"/>
              </a:rPr>
              <a:t>DEMO  ·  Step 1 of 3</a:t>
            </a:r>
            <a:endParaRPr lang="en-US" sz="1100" dirty="0"/>
          </a:p>
        </p:txBody>
      </p:sp>
      <p:sp>
        <p:nvSpPr>
          <p:cNvPr id="4" name="Text 2"/>
          <p:cNvSpPr/>
          <p:nvPr/>
        </p:nvSpPr>
        <p:spPr>
          <a:xfrm>
            <a:off x="0" y="54864"/>
            <a:ext cx="8869680" cy="274320"/>
          </a:xfrm>
          <a:prstGeom prst="rect">
            <a:avLst/>
          </a:prstGeom>
          <a:noFill/>
          <a:ln/>
        </p:spPr>
        <p:txBody>
          <a:bodyPr wrap="square" lIns="0" tIns="0" rIns="0" bIns="0" rtlCol="0" anchor="ctr"/>
          <a:lstStyle/>
          <a:p>
            <a:pPr algn="r" indent="0" marL="0">
              <a:buNone/>
            </a:pPr>
            <a:r>
              <a:rPr lang="en-US" sz="1100" b="1" dirty="0">
                <a:solidFill>
                  <a:srgbClr val="F4A543"/>
                </a:solidFill>
                <a:latin typeface="Calibri" pitchFamily="34" charset="0"/>
                <a:ea typeface="Calibri" pitchFamily="34" charset="-122"/>
                <a:cs typeface="Calibri" pitchFamily="34" charset="-120"/>
              </a:rPr>
              <a:t>Add Owner &amp; Pet</a:t>
            </a:r>
            <a:endParaRPr lang="en-US" sz="11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D3B38"/>
                </a:solidFill>
                <a:latin typeface="Trebuchet MS" pitchFamily="34" charset="0"/>
                <a:ea typeface="Trebuchet MS" pitchFamily="34" charset="-122"/>
                <a:cs typeface="Trebuchet MS" pitchFamily="34" charset="-120"/>
              </a:rPr>
              <a:t>Register Your Owner &amp; Pet Profile</a:t>
            </a:r>
            <a:endParaRPr lang="en-US" sz="2600" dirty="0"/>
          </a:p>
        </p:txBody>
      </p:sp>
      <p:sp>
        <p:nvSpPr>
          <p:cNvPr id="6" name="Shape 4"/>
          <p:cNvSpPr/>
          <p:nvPr/>
        </p:nvSpPr>
        <p:spPr>
          <a:xfrm>
            <a:off x="274320" y="1097280"/>
            <a:ext cx="2560320" cy="3749040"/>
          </a:xfrm>
          <a:prstGeom prst="rect">
            <a:avLst/>
          </a:prstGeom>
          <a:solidFill>
            <a:srgbClr val="F4F9F8"/>
          </a:solidFill>
          <a:ln w="12700">
            <a:solidFill>
              <a:srgbClr val="D0E8E6"/>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11480" y="1170432"/>
            <a:ext cx="2286000" cy="320040"/>
          </a:xfrm>
          <a:prstGeom prst="rect">
            <a:avLst/>
          </a:prstGeom>
          <a:noFill/>
          <a:ln/>
        </p:spPr>
        <p:txBody>
          <a:bodyPr wrap="square" lIns="0" tIns="0" rIns="0" bIns="0" rtlCol="0" anchor="ctr"/>
          <a:lstStyle/>
          <a:p>
            <a:pPr indent="0" marL="0">
              <a:buNone/>
            </a:pPr>
            <a:r>
              <a:rPr lang="en-US" sz="1300" b="1" dirty="0">
                <a:solidFill>
                  <a:srgbClr val="0A7E75"/>
                </a:solidFill>
                <a:latin typeface="Trebuchet MS" pitchFamily="34" charset="0"/>
                <a:ea typeface="Trebuchet MS" pitchFamily="34" charset="-122"/>
                <a:cs typeface="Trebuchet MS" pitchFamily="34" charset="-120"/>
              </a:rPr>
              <a:t>🐾  PawPal+</a:t>
            </a:r>
            <a:endParaRPr lang="en-US" sz="1300" dirty="0"/>
          </a:p>
        </p:txBody>
      </p:sp>
      <p:sp>
        <p:nvSpPr>
          <p:cNvPr id="8" name="Text 6"/>
          <p:cNvSpPr/>
          <p:nvPr/>
        </p:nvSpPr>
        <p:spPr>
          <a:xfrm>
            <a:off x="411480" y="1581912"/>
            <a:ext cx="2286000" cy="228600"/>
          </a:xfrm>
          <a:prstGeom prst="rect">
            <a:avLst/>
          </a:prstGeom>
          <a:noFill/>
          <a:ln/>
        </p:spPr>
        <p:txBody>
          <a:bodyPr wrap="square" lIns="0" tIns="0" rIns="0" bIns="0" rtlCol="0" anchor="ctr"/>
          <a:lstStyle/>
          <a:p>
            <a:pPr indent="0" marL="0">
              <a:buNone/>
            </a:pPr>
            <a:r>
              <a:rPr lang="en-US" sz="900" dirty="0">
                <a:solidFill>
                  <a:srgbClr val="5A7A77"/>
                </a:solidFill>
                <a:latin typeface="Calibri" pitchFamily="34" charset="0"/>
                <a:ea typeface="Calibri" pitchFamily="34" charset="-122"/>
                <a:cs typeface="Calibri" pitchFamily="34" charset="-120"/>
              </a:rPr>
              <a:t>Owner Name</a:t>
            </a:r>
            <a:endParaRPr lang="en-US" sz="900" dirty="0"/>
          </a:p>
        </p:txBody>
      </p:sp>
      <p:sp>
        <p:nvSpPr>
          <p:cNvPr id="9" name="Shape 7"/>
          <p:cNvSpPr/>
          <p:nvPr/>
        </p:nvSpPr>
        <p:spPr>
          <a:xfrm>
            <a:off x="411480" y="1810512"/>
            <a:ext cx="2286000" cy="292608"/>
          </a:xfrm>
          <a:prstGeom prst="roundRect">
            <a:avLst/>
          </a:prstGeom>
          <a:solidFill>
            <a:srgbClr val="FFFFFF"/>
          </a:solidFill>
          <a:ln w="19050">
            <a:solidFill>
              <a:srgbClr val="0A7E75"/>
            </a:solidFill>
            <a:prstDash val="solid"/>
          </a:ln>
        </p:spPr>
      </p:sp>
      <p:sp>
        <p:nvSpPr>
          <p:cNvPr id="10" name="Text 8"/>
          <p:cNvSpPr/>
          <p:nvPr/>
        </p:nvSpPr>
        <p:spPr>
          <a:xfrm>
            <a:off x="502920" y="1837944"/>
            <a:ext cx="2103120" cy="237744"/>
          </a:xfrm>
          <a:prstGeom prst="rect">
            <a:avLst/>
          </a:prstGeom>
          <a:noFill/>
          <a:ln/>
        </p:spPr>
        <p:txBody>
          <a:bodyPr wrap="square" lIns="0" tIns="0" rIns="0" bIns="0" rtlCol="0" anchor="ctr"/>
          <a:lstStyle/>
          <a:p>
            <a:pPr indent="0" marL="0">
              <a:buNone/>
            </a:pPr>
            <a:r>
              <a:rPr lang="en-US" sz="1100" dirty="0">
                <a:solidFill>
                  <a:srgbClr val="1A2B2A"/>
                </a:solidFill>
                <a:latin typeface="Calibri" pitchFamily="34" charset="0"/>
                <a:ea typeface="Calibri" pitchFamily="34" charset="-122"/>
                <a:cs typeface="Calibri" pitchFamily="34" charset="-120"/>
              </a:rPr>
              <a:t>Sarah</a:t>
            </a:r>
            <a:endParaRPr lang="en-US" sz="1100" dirty="0"/>
          </a:p>
        </p:txBody>
      </p:sp>
      <p:sp>
        <p:nvSpPr>
          <p:cNvPr id="11" name="Shape 9"/>
          <p:cNvSpPr/>
          <p:nvPr/>
        </p:nvSpPr>
        <p:spPr>
          <a:xfrm>
            <a:off x="411480" y="2176272"/>
            <a:ext cx="2286000" cy="274320"/>
          </a:xfrm>
          <a:prstGeom prst="roundRect">
            <a:avLst/>
          </a:prstGeom>
          <a:solidFill>
            <a:srgbClr val="0A7E75"/>
          </a:solidFill>
          <a:ln/>
        </p:spPr>
      </p:sp>
      <p:sp>
        <p:nvSpPr>
          <p:cNvPr id="12" name="Text 10"/>
          <p:cNvSpPr/>
          <p:nvPr/>
        </p:nvSpPr>
        <p:spPr>
          <a:xfrm>
            <a:off x="411480" y="2176272"/>
            <a:ext cx="22860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Load / Create Owner</a:t>
            </a:r>
            <a:endParaRPr lang="en-US" sz="900" dirty="0"/>
          </a:p>
        </p:txBody>
      </p:sp>
      <p:sp>
        <p:nvSpPr>
          <p:cNvPr id="13" name="Shape 11"/>
          <p:cNvSpPr/>
          <p:nvPr/>
        </p:nvSpPr>
        <p:spPr>
          <a:xfrm>
            <a:off x="411480" y="2560320"/>
            <a:ext cx="2286000" cy="0"/>
          </a:xfrm>
          <a:prstGeom prst="line">
            <a:avLst/>
          </a:prstGeom>
          <a:noFill/>
          <a:ln w="12700">
            <a:solidFill>
              <a:srgbClr val="D0E8E6"/>
            </a:solidFill>
            <a:prstDash val="solid"/>
          </a:ln>
        </p:spPr>
      </p:sp>
      <p:sp>
        <p:nvSpPr>
          <p:cNvPr id="14" name="Text 12"/>
          <p:cNvSpPr/>
          <p:nvPr/>
        </p:nvSpPr>
        <p:spPr>
          <a:xfrm>
            <a:off x="411480" y="2651760"/>
            <a:ext cx="2286000" cy="228600"/>
          </a:xfrm>
          <a:prstGeom prst="rect">
            <a:avLst/>
          </a:prstGeom>
          <a:noFill/>
          <a:ln/>
        </p:spPr>
        <p:txBody>
          <a:bodyPr wrap="square" lIns="0" tIns="0" rIns="0" bIns="0" rtlCol="0" anchor="ctr"/>
          <a:lstStyle/>
          <a:p>
            <a:pPr indent="0" marL="0">
              <a:buNone/>
            </a:pPr>
            <a:r>
              <a:rPr lang="en-US" sz="900" b="1" dirty="0">
                <a:solidFill>
                  <a:srgbClr val="0D3B38"/>
                </a:solidFill>
                <a:latin typeface="Calibri" pitchFamily="34" charset="0"/>
                <a:ea typeface="Calibri" pitchFamily="34" charset="-122"/>
                <a:cs typeface="Calibri" pitchFamily="34" charset="-120"/>
              </a:rPr>
              <a:t>Add a New Pet</a:t>
            </a:r>
            <a:endParaRPr lang="en-US" sz="900" dirty="0"/>
          </a:p>
        </p:txBody>
      </p:sp>
      <p:sp>
        <p:nvSpPr>
          <p:cNvPr id="15" name="Text 13"/>
          <p:cNvSpPr/>
          <p:nvPr/>
        </p:nvSpPr>
        <p:spPr>
          <a:xfrm>
            <a:off x="411480" y="2926080"/>
            <a:ext cx="2286000" cy="182880"/>
          </a:xfrm>
          <a:prstGeom prst="rect">
            <a:avLst/>
          </a:prstGeom>
          <a:noFill/>
          <a:ln/>
        </p:spPr>
        <p:txBody>
          <a:bodyPr wrap="square" lIns="0" tIns="0" rIns="0" bIns="0" rtlCol="0" anchor="ctr"/>
          <a:lstStyle/>
          <a:p>
            <a:pPr indent="0" marL="0">
              <a:buNone/>
            </a:pPr>
            <a:r>
              <a:rPr lang="en-US" sz="800" dirty="0">
                <a:solidFill>
                  <a:srgbClr val="5A7A77"/>
                </a:solidFill>
                <a:latin typeface="Calibri" pitchFamily="34" charset="0"/>
                <a:ea typeface="Calibri" pitchFamily="34" charset="-122"/>
                <a:cs typeface="Calibri" pitchFamily="34" charset="-120"/>
              </a:rPr>
              <a:t>Pet Name</a:t>
            </a:r>
            <a:endParaRPr lang="en-US" sz="800" dirty="0"/>
          </a:p>
        </p:txBody>
      </p:sp>
      <p:sp>
        <p:nvSpPr>
          <p:cNvPr id="16" name="Shape 14"/>
          <p:cNvSpPr/>
          <p:nvPr/>
        </p:nvSpPr>
        <p:spPr>
          <a:xfrm>
            <a:off x="411480" y="3108960"/>
            <a:ext cx="2286000" cy="256032"/>
          </a:xfrm>
          <a:prstGeom prst="roundRect">
            <a:avLst/>
          </a:prstGeom>
          <a:solidFill>
            <a:srgbClr val="FFFFFF"/>
          </a:solidFill>
          <a:ln w="12700">
            <a:solidFill>
              <a:srgbClr val="C8E6E4"/>
            </a:solidFill>
            <a:prstDash val="solid"/>
          </a:ln>
        </p:spPr>
      </p:sp>
      <p:sp>
        <p:nvSpPr>
          <p:cNvPr id="17" name="Text 15"/>
          <p:cNvSpPr/>
          <p:nvPr/>
        </p:nvSpPr>
        <p:spPr>
          <a:xfrm>
            <a:off x="502920" y="3127248"/>
            <a:ext cx="2103120" cy="219456"/>
          </a:xfrm>
          <a:prstGeom prst="rect">
            <a:avLst/>
          </a:prstGeom>
          <a:noFill/>
          <a:ln/>
        </p:spPr>
        <p:txBody>
          <a:bodyPr wrap="square" lIns="0" tIns="0" rIns="0" bIns="0" rtlCol="0" anchor="ctr"/>
          <a:lstStyle/>
          <a:p>
            <a:pPr indent="0" marL="0">
              <a:buNone/>
            </a:pPr>
            <a:r>
              <a:rPr lang="en-US" sz="1000" dirty="0">
                <a:solidFill>
                  <a:srgbClr val="1A2B2A"/>
                </a:solidFill>
                <a:latin typeface="Calibri" pitchFamily="34" charset="0"/>
                <a:ea typeface="Calibri" pitchFamily="34" charset="-122"/>
                <a:cs typeface="Calibri" pitchFamily="34" charset="-120"/>
              </a:rPr>
              <a:t>Billy</a:t>
            </a:r>
            <a:endParaRPr lang="en-US" sz="1000" dirty="0"/>
          </a:p>
        </p:txBody>
      </p:sp>
      <p:sp>
        <p:nvSpPr>
          <p:cNvPr id="18" name="Text 16"/>
          <p:cNvSpPr/>
          <p:nvPr/>
        </p:nvSpPr>
        <p:spPr>
          <a:xfrm>
            <a:off x="411480" y="3310128"/>
            <a:ext cx="2286000" cy="182880"/>
          </a:xfrm>
          <a:prstGeom prst="rect">
            <a:avLst/>
          </a:prstGeom>
          <a:noFill/>
          <a:ln/>
        </p:spPr>
        <p:txBody>
          <a:bodyPr wrap="square" lIns="0" tIns="0" rIns="0" bIns="0" rtlCol="0" anchor="ctr"/>
          <a:lstStyle/>
          <a:p>
            <a:pPr indent="0" marL="0">
              <a:buNone/>
            </a:pPr>
            <a:r>
              <a:rPr lang="en-US" sz="800" dirty="0">
                <a:solidFill>
                  <a:srgbClr val="5A7A77"/>
                </a:solidFill>
                <a:latin typeface="Calibri" pitchFamily="34" charset="0"/>
                <a:ea typeface="Calibri" pitchFamily="34" charset="-122"/>
                <a:cs typeface="Calibri" pitchFamily="34" charset="-120"/>
              </a:rPr>
              <a:t>Breed</a:t>
            </a:r>
            <a:endParaRPr lang="en-US" sz="800" dirty="0"/>
          </a:p>
        </p:txBody>
      </p:sp>
      <p:sp>
        <p:nvSpPr>
          <p:cNvPr id="19" name="Shape 17"/>
          <p:cNvSpPr/>
          <p:nvPr/>
        </p:nvSpPr>
        <p:spPr>
          <a:xfrm>
            <a:off x="411480" y="3493008"/>
            <a:ext cx="2286000" cy="256032"/>
          </a:xfrm>
          <a:prstGeom prst="roundRect">
            <a:avLst/>
          </a:prstGeom>
          <a:solidFill>
            <a:srgbClr val="FFFFFF"/>
          </a:solidFill>
          <a:ln w="12700">
            <a:solidFill>
              <a:srgbClr val="C8E6E4"/>
            </a:solidFill>
            <a:prstDash val="solid"/>
          </a:ln>
        </p:spPr>
      </p:sp>
      <p:sp>
        <p:nvSpPr>
          <p:cNvPr id="20" name="Text 18"/>
          <p:cNvSpPr/>
          <p:nvPr/>
        </p:nvSpPr>
        <p:spPr>
          <a:xfrm>
            <a:off x="502920" y="3511296"/>
            <a:ext cx="2103120" cy="219456"/>
          </a:xfrm>
          <a:prstGeom prst="rect">
            <a:avLst/>
          </a:prstGeom>
          <a:noFill/>
          <a:ln/>
        </p:spPr>
        <p:txBody>
          <a:bodyPr wrap="square" lIns="0" tIns="0" rIns="0" bIns="0" rtlCol="0" anchor="ctr"/>
          <a:lstStyle/>
          <a:p>
            <a:pPr indent="0" marL="0">
              <a:buNone/>
            </a:pPr>
            <a:r>
              <a:rPr lang="en-US" sz="1000" dirty="0">
                <a:solidFill>
                  <a:srgbClr val="1A2B2A"/>
                </a:solidFill>
                <a:latin typeface="Calibri" pitchFamily="34" charset="0"/>
                <a:ea typeface="Calibri" pitchFamily="34" charset="-122"/>
                <a:cs typeface="Calibri" pitchFamily="34" charset="-120"/>
              </a:rPr>
              <a:t>Golden Retriever</a:t>
            </a:r>
            <a:endParaRPr lang="en-US" sz="1000" dirty="0"/>
          </a:p>
        </p:txBody>
      </p:sp>
      <p:sp>
        <p:nvSpPr>
          <p:cNvPr id="21" name="Text 19"/>
          <p:cNvSpPr/>
          <p:nvPr/>
        </p:nvSpPr>
        <p:spPr>
          <a:xfrm>
            <a:off x="411480" y="3694176"/>
            <a:ext cx="2286000" cy="182880"/>
          </a:xfrm>
          <a:prstGeom prst="rect">
            <a:avLst/>
          </a:prstGeom>
          <a:noFill/>
          <a:ln/>
        </p:spPr>
        <p:txBody>
          <a:bodyPr wrap="square" lIns="0" tIns="0" rIns="0" bIns="0" rtlCol="0" anchor="ctr"/>
          <a:lstStyle/>
          <a:p>
            <a:pPr indent="0" marL="0">
              <a:buNone/>
            </a:pPr>
            <a:r>
              <a:rPr lang="en-US" sz="800" dirty="0">
                <a:solidFill>
                  <a:srgbClr val="5A7A77"/>
                </a:solidFill>
                <a:latin typeface="Calibri" pitchFamily="34" charset="0"/>
                <a:ea typeface="Calibri" pitchFamily="34" charset="-122"/>
                <a:cs typeface="Calibri" pitchFamily="34" charset="-120"/>
              </a:rPr>
              <a:t>Birth Date</a:t>
            </a:r>
            <a:endParaRPr lang="en-US" sz="800" dirty="0"/>
          </a:p>
        </p:txBody>
      </p:sp>
      <p:sp>
        <p:nvSpPr>
          <p:cNvPr id="22" name="Shape 20"/>
          <p:cNvSpPr/>
          <p:nvPr/>
        </p:nvSpPr>
        <p:spPr>
          <a:xfrm>
            <a:off x="411480" y="3877056"/>
            <a:ext cx="2286000" cy="256032"/>
          </a:xfrm>
          <a:prstGeom prst="roundRect">
            <a:avLst/>
          </a:prstGeom>
          <a:solidFill>
            <a:srgbClr val="FFFFFF"/>
          </a:solidFill>
          <a:ln w="12700">
            <a:solidFill>
              <a:srgbClr val="C8E6E4"/>
            </a:solidFill>
            <a:prstDash val="solid"/>
          </a:ln>
        </p:spPr>
      </p:sp>
      <p:sp>
        <p:nvSpPr>
          <p:cNvPr id="23" name="Text 21"/>
          <p:cNvSpPr/>
          <p:nvPr/>
        </p:nvSpPr>
        <p:spPr>
          <a:xfrm>
            <a:off x="502920" y="3895344"/>
            <a:ext cx="2103120" cy="219456"/>
          </a:xfrm>
          <a:prstGeom prst="rect">
            <a:avLst/>
          </a:prstGeom>
          <a:noFill/>
          <a:ln/>
        </p:spPr>
        <p:txBody>
          <a:bodyPr wrap="square" lIns="0" tIns="0" rIns="0" bIns="0" rtlCol="0" anchor="ctr"/>
          <a:lstStyle/>
          <a:p>
            <a:pPr indent="0" marL="0">
              <a:buNone/>
            </a:pPr>
            <a:r>
              <a:rPr lang="en-US" sz="1000" dirty="0">
                <a:solidFill>
                  <a:srgbClr val="1A2B2A"/>
                </a:solidFill>
                <a:latin typeface="Calibri" pitchFamily="34" charset="0"/>
                <a:ea typeface="Calibri" pitchFamily="34" charset="-122"/>
                <a:cs typeface="Calibri" pitchFamily="34" charset="-120"/>
              </a:rPr>
              <a:t>2025-10-01</a:t>
            </a:r>
            <a:endParaRPr lang="en-US" sz="1000" dirty="0"/>
          </a:p>
        </p:txBody>
      </p:sp>
      <p:sp>
        <p:nvSpPr>
          <p:cNvPr id="24" name="Shape 22"/>
          <p:cNvSpPr/>
          <p:nvPr/>
        </p:nvSpPr>
        <p:spPr>
          <a:xfrm>
            <a:off x="411480" y="4133088"/>
            <a:ext cx="2286000" cy="274320"/>
          </a:xfrm>
          <a:prstGeom prst="roundRect">
            <a:avLst/>
          </a:prstGeom>
          <a:solidFill>
            <a:srgbClr val="F4A543"/>
          </a:solidFill>
          <a:ln/>
        </p:spPr>
      </p:sp>
      <p:sp>
        <p:nvSpPr>
          <p:cNvPr id="25" name="Text 23"/>
          <p:cNvSpPr/>
          <p:nvPr/>
        </p:nvSpPr>
        <p:spPr>
          <a:xfrm>
            <a:off x="411480" y="4133088"/>
            <a:ext cx="22860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Add Pet</a:t>
            </a:r>
            <a:endParaRPr lang="en-US" sz="900" dirty="0"/>
          </a:p>
        </p:txBody>
      </p:sp>
      <p:sp>
        <p:nvSpPr>
          <p:cNvPr id="26" name="Shape 24"/>
          <p:cNvSpPr/>
          <p:nvPr/>
        </p:nvSpPr>
        <p:spPr>
          <a:xfrm>
            <a:off x="3017520" y="1097280"/>
            <a:ext cx="5852160" cy="3749040"/>
          </a:xfrm>
          <a:prstGeom prst="rect">
            <a:avLst/>
          </a:prstGeom>
          <a:solidFill>
            <a:srgbClr val="FFFFFF"/>
          </a:solidFill>
          <a:ln w="12700">
            <a:solidFill>
              <a:srgbClr val="E0EEEC"/>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3017520" y="1097280"/>
            <a:ext cx="1280160" cy="320040"/>
          </a:xfrm>
          <a:prstGeom prst="rect">
            <a:avLst/>
          </a:prstGeom>
          <a:solidFill>
            <a:srgbClr val="EDF5F4"/>
          </a:solidFill>
          <a:ln w="12700">
            <a:solidFill>
              <a:srgbClr val="D0E8E6"/>
            </a:solidFill>
            <a:prstDash val="solid"/>
          </a:ln>
        </p:spPr>
      </p:sp>
      <p:sp>
        <p:nvSpPr>
          <p:cNvPr id="28" name="Text 26"/>
          <p:cNvSpPr/>
          <p:nvPr/>
        </p:nvSpPr>
        <p:spPr>
          <a:xfrm>
            <a:off x="3017520" y="1097280"/>
            <a:ext cx="1280160" cy="320040"/>
          </a:xfrm>
          <a:prstGeom prst="rect">
            <a:avLst/>
          </a:prstGeom>
          <a:noFill/>
          <a:ln/>
        </p:spPr>
        <p:txBody>
          <a:bodyPr wrap="square" lIns="0" tIns="0" rIns="0" bIns="0" rtlCol="0" anchor="ctr"/>
          <a:lstStyle/>
          <a:p>
            <a:pPr algn="ctr" indent="0" marL="0">
              <a:buNone/>
            </a:pPr>
            <a:r>
              <a:rPr lang="en-US" sz="1000" dirty="0">
                <a:solidFill>
                  <a:srgbClr val="5A7A77"/>
                </a:solidFill>
                <a:latin typeface="Calibri" pitchFamily="34" charset="0"/>
                <a:ea typeface="Calibri" pitchFamily="34" charset="-122"/>
                <a:cs typeface="Calibri" pitchFamily="34" charset="-120"/>
              </a:rPr>
              <a:t>Tasks</a:t>
            </a:r>
            <a:endParaRPr lang="en-US" sz="1000" dirty="0"/>
          </a:p>
        </p:txBody>
      </p:sp>
      <p:sp>
        <p:nvSpPr>
          <p:cNvPr id="29" name="Shape 27"/>
          <p:cNvSpPr/>
          <p:nvPr/>
        </p:nvSpPr>
        <p:spPr>
          <a:xfrm>
            <a:off x="4389120" y="1097280"/>
            <a:ext cx="1280160" cy="320040"/>
          </a:xfrm>
          <a:prstGeom prst="rect">
            <a:avLst/>
          </a:prstGeom>
          <a:solidFill>
            <a:srgbClr val="0A7E75"/>
          </a:solidFill>
          <a:ln w="12700">
            <a:solidFill>
              <a:srgbClr val="0A7E75"/>
            </a:solidFill>
            <a:prstDash val="solid"/>
          </a:ln>
        </p:spPr>
      </p:sp>
      <p:sp>
        <p:nvSpPr>
          <p:cNvPr id="30" name="Text 28"/>
          <p:cNvSpPr/>
          <p:nvPr/>
        </p:nvSpPr>
        <p:spPr>
          <a:xfrm>
            <a:off x="4389120" y="1097280"/>
            <a:ext cx="128016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Pet Profiles</a:t>
            </a:r>
            <a:endParaRPr lang="en-US" sz="1000" dirty="0"/>
          </a:p>
        </p:txBody>
      </p:sp>
      <p:sp>
        <p:nvSpPr>
          <p:cNvPr id="31" name="Shape 29"/>
          <p:cNvSpPr/>
          <p:nvPr/>
        </p:nvSpPr>
        <p:spPr>
          <a:xfrm>
            <a:off x="3200400" y="1508760"/>
            <a:ext cx="5394960" cy="1417320"/>
          </a:xfrm>
          <a:prstGeom prst="roundRect">
            <a:avLst/>
          </a:prstGeom>
          <a:solidFill>
            <a:srgbClr val="E8F5F4"/>
          </a:solidFill>
          <a:ln w="12700">
            <a:solidFill>
              <a:srgbClr val="C8E6E4"/>
            </a:solidFill>
            <a:prstDash val="solid"/>
          </a:ln>
        </p:spPr>
      </p:sp>
      <p:sp>
        <p:nvSpPr>
          <p:cNvPr id="32" name="Text 30"/>
          <p:cNvSpPr/>
          <p:nvPr/>
        </p:nvSpPr>
        <p:spPr>
          <a:xfrm>
            <a:off x="3337560" y="1572768"/>
            <a:ext cx="2743200" cy="347472"/>
          </a:xfrm>
          <a:prstGeom prst="rect">
            <a:avLst/>
          </a:prstGeom>
          <a:noFill/>
          <a:ln/>
        </p:spPr>
        <p:txBody>
          <a:bodyPr wrap="square" lIns="0" tIns="0" rIns="0" bIns="0" rtlCol="0" anchor="ctr"/>
          <a:lstStyle/>
          <a:p>
            <a:pPr indent="0" marL="0">
              <a:buNone/>
            </a:pPr>
            <a:r>
              <a:rPr lang="en-US" sz="1500" b="1" dirty="0">
                <a:solidFill>
                  <a:srgbClr val="0D3B38"/>
                </a:solidFill>
                <a:latin typeface="Trebuchet MS" pitchFamily="34" charset="0"/>
                <a:ea typeface="Trebuchet MS" pitchFamily="34" charset="-122"/>
                <a:cs typeface="Trebuchet MS" pitchFamily="34" charset="-120"/>
              </a:rPr>
              <a:t>🐶  Billy</a:t>
            </a:r>
            <a:endParaRPr lang="en-US" sz="1500" dirty="0"/>
          </a:p>
        </p:txBody>
      </p:sp>
      <p:sp>
        <p:nvSpPr>
          <p:cNvPr id="33" name="Text 31"/>
          <p:cNvSpPr/>
          <p:nvPr/>
        </p:nvSpPr>
        <p:spPr>
          <a:xfrm>
            <a:off x="3337560" y="1920240"/>
            <a:ext cx="5029200" cy="256032"/>
          </a:xfrm>
          <a:prstGeom prst="rect">
            <a:avLst/>
          </a:prstGeom>
          <a:noFill/>
          <a:ln/>
        </p:spPr>
        <p:txBody>
          <a:bodyPr wrap="square" lIns="0" tIns="0" rIns="0" bIns="0" rtlCol="0" anchor="ctr"/>
          <a:lstStyle/>
          <a:p>
            <a:pPr indent="0" marL="0">
              <a:buNone/>
            </a:pPr>
            <a:r>
              <a:rPr lang="en-US" sz="1000" dirty="0">
                <a:solidFill>
                  <a:srgbClr val="5A7A77"/>
                </a:solidFill>
                <a:latin typeface="Calibri" pitchFamily="34" charset="0"/>
                <a:ea typeface="Calibri" pitchFamily="34" charset="-122"/>
                <a:cs typeface="Calibri" pitchFamily="34" charset="-120"/>
              </a:rPr>
              <a:t>Golden Retriever  ·  6 months  ·  Intact</a:t>
            </a:r>
            <a:endParaRPr lang="en-US" sz="1000" dirty="0"/>
          </a:p>
        </p:txBody>
      </p:sp>
      <p:sp>
        <p:nvSpPr>
          <p:cNvPr id="34" name="Shape 32"/>
          <p:cNvSpPr/>
          <p:nvPr/>
        </p:nvSpPr>
        <p:spPr>
          <a:xfrm>
            <a:off x="3337560" y="2212848"/>
            <a:ext cx="1280160" cy="228600"/>
          </a:xfrm>
          <a:prstGeom prst="roundRect">
            <a:avLst/>
          </a:prstGeom>
          <a:solidFill>
            <a:srgbClr val="E8F5E9"/>
          </a:solidFill>
          <a:ln w="12700">
            <a:solidFill>
              <a:srgbClr val="A5D6A7"/>
            </a:solidFill>
            <a:prstDash val="solid"/>
          </a:ln>
        </p:spPr>
      </p:sp>
      <p:sp>
        <p:nvSpPr>
          <p:cNvPr id="35" name="Text 33"/>
          <p:cNvSpPr/>
          <p:nvPr/>
        </p:nvSpPr>
        <p:spPr>
          <a:xfrm>
            <a:off x="3337560" y="2212848"/>
            <a:ext cx="2286000" cy="228600"/>
          </a:xfrm>
          <a:prstGeom prst="rect">
            <a:avLst/>
          </a:prstGeom>
          <a:noFill/>
          <a:ln/>
        </p:spPr>
        <p:txBody>
          <a:bodyPr wrap="square" lIns="38100" tIns="38100" rIns="38100" bIns="38100" rtlCol="0" anchor="ctr"/>
          <a:lstStyle/>
          <a:p>
            <a:pPr indent="0" marL="0">
              <a:buNone/>
            </a:pPr>
            <a:r>
              <a:rPr lang="en-US" sz="900" dirty="0">
                <a:solidFill>
                  <a:srgbClr val="388E3C"/>
                </a:solidFill>
                <a:latin typeface="Calibri" pitchFamily="34" charset="0"/>
                <a:ea typeface="Calibri" pitchFamily="34" charset="-122"/>
                <a:cs typeface="Calibri" pitchFamily="34" charset="-120"/>
              </a:rPr>
              <a:t>✅  No vaccinations yet</a:t>
            </a:r>
            <a:endParaRPr lang="en-US" sz="900" dirty="0"/>
          </a:p>
        </p:txBody>
      </p:sp>
      <p:sp>
        <p:nvSpPr>
          <p:cNvPr id="36" name="Text 34"/>
          <p:cNvSpPr/>
          <p:nvPr/>
        </p:nvSpPr>
        <p:spPr>
          <a:xfrm>
            <a:off x="3200400" y="3063240"/>
            <a:ext cx="5394960" cy="548640"/>
          </a:xfrm>
          <a:prstGeom prst="rect">
            <a:avLst/>
          </a:prstGeom>
          <a:noFill/>
          <a:ln/>
        </p:spPr>
        <p:txBody>
          <a:bodyPr wrap="square" lIns="0" tIns="0" rIns="0" bIns="0" rtlCol="0" anchor="ctr"/>
          <a:lstStyle/>
          <a:p>
            <a:pPr algn="ctr" indent="0" marL="0">
              <a:buNone/>
            </a:pPr>
            <a:r>
              <a:rPr lang="en-US" sz="1200" b="1" dirty="0">
                <a:solidFill>
                  <a:srgbClr val="0A7E75"/>
                </a:solidFill>
                <a:latin typeface="Calibri" pitchFamily="34" charset="0"/>
                <a:ea typeface="Calibri" pitchFamily="34" charset="-122"/>
                <a:cs typeface="Calibri" pitchFamily="34" charset="-120"/>
              </a:rPr>
              <a:t>① Owner &amp; pet registered</a:t>
            </a:r>
            <a:endParaRPr lang="en-US" sz="1200" dirty="0"/>
          </a:p>
          <a:p>
            <a:pPr algn="ctr" indent="0" marL="0">
              <a:buNone/>
            </a:pPr>
            <a:r>
              <a:rPr lang="en-US" sz="1200" b="1" dirty="0">
                <a:solidFill>
                  <a:srgbClr val="0A7E75"/>
                </a:solidFill>
                <a:latin typeface="Calibri" pitchFamily="34" charset="0"/>
                <a:ea typeface="Calibri" pitchFamily="34" charset="-122"/>
                <a:cs typeface="Calibri" pitchFamily="34" charset="-120"/>
              </a:rPr>
              <a:t>in the sidebar</a:t>
            </a:r>
            <a:endParaRPr lang="en-US" sz="1200" dirty="0"/>
          </a:p>
        </p:txBody>
      </p:sp>
      <p:sp>
        <p:nvSpPr>
          <p:cNvPr id="37" name="Shape 35"/>
          <p:cNvSpPr/>
          <p:nvPr/>
        </p:nvSpPr>
        <p:spPr>
          <a:xfrm>
            <a:off x="3200400" y="3611880"/>
            <a:ext cx="5394960" cy="1005840"/>
          </a:xfrm>
          <a:prstGeom prst="roundRect">
            <a:avLst/>
          </a:prstGeom>
          <a:solidFill>
            <a:srgbClr val="F0FAF9"/>
          </a:solidFill>
          <a:ln w="12700">
            <a:solidFill>
              <a:srgbClr val="0A7E75"/>
            </a:solidFill>
            <a:prstDash val="solid"/>
          </a:ln>
        </p:spPr>
      </p:sp>
      <p:sp>
        <p:nvSpPr>
          <p:cNvPr id="38" name="Text 36"/>
          <p:cNvSpPr/>
          <p:nvPr/>
        </p:nvSpPr>
        <p:spPr>
          <a:xfrm>
            <a:off x="3337560" y="3675888"/>
            <a:ext cx="5120640" cy="877824"/>
          </a:xfrm>
          <a:prstGeom prst="rect">
            <a:avLst/>
          </a:prstGeom>
          <a:noFill/>
          <a:ln/>
        </p:spPr>
        <p:txBody>
          <a:bodyPr wrap="square" lIns="0" tIns="0" rIns="0" bIns="0" rtlCol="0" anchor="ctr"/>
          <a:lstStyle/>
          <a:p>
            <a:pPr indent="0" marL="0">
              <a:buNone/>
            </a:pPr>
            <a:r>
              <a:rPr lang="en-US" sz="1100" b="1" dirty="0">
                <a:solidFill>
                  <a:srgbClr val="1A2B2A"/>
                </a:solidFill>
                <a:latin typeface="Calibri" pitchFamily="34" charset="0"/>
                <a:ea typeface="Calibri" pitchFamily="34" charset="-122"/>
                <a:cs typeface="Calibri" pitchFamily="34" charset="-120"/>
              </a:rPr>
              <a:t>Sidebar (left): </a:t>
            </a:r>
            <a:pPr indent="0" marL="0">
              <a:buNone/>
            </a:pPr>
            <a:r>
              <a:rPr lang="en-US" sz="1100" dirty="0">
                <a:solidFill>
                  <a:srgbClr val="1A2B2A"/>
                </a:solidFill>
                <a:latin typeface="Calibri" pitchFamily="34" charset="0"/>
                <a:ea typeface="Calibri" pitchFamily="34" charset="-122"/>
                <a:cs typeface="Calibri" pitchFamily="34" charset="-120"/>
              </a:rPr>
              <a:t>Enter owner name → Load / Create Owner
</a:t>
            </a:r>
            <a:pPr indent="0" marL="0">
              <a:buNone/>
            </a:pPr>
            <a:r>
              <a:rPr lang="en-US" sz="1100" dirty="0">
                <a:solidFill>
                  <a:srgbClr val="1A2B2A"/>
                </a:solidFill>
                <a:latin typeface="Calibri" pitchFamily="34" charset="0"/>
                <a:ea typeface="Calibri" pitchFamily="34" charset="-122"/>
                <a:cs typeface="Calibri" pitchFamily="34" charset="-120"/>
              </a:rPr>
              <a:t>Then fill pet name, breed, birth date → </a:t>
            </a:r>
            <a:pPr indent="0" marL="0">
              <a:buNone/>
            </a:pPr>
            <a:r>
              <a:rPr lang="en-US" sz="1100" b="1" dirty="0">
                <a:solidFill>
                  <a:srgbClr val="1A2B2A"/>
                </a:solidFill>
                <a:latin typeface="Calibri" pitchFamily="34" charset="0"/>
                <a:ea typeface="Calibri" pitchFamily="34" charset="-122"/>
                <a:cs typeface="Calibri" pitchFamily="34" charset="-120"/>
              </a:rPr>
              <a:t>Add Pet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D3B38"/>
          </a:solidFill>
          <a:ln/>
        </p:spPr>
      </p:sp>
      <p:sp>
        <p:nvSpPr>
          <p:cNvPr id="3" name="Text 1"/>
          <p:cNvSpPr/>
          <p:nvPr/>
        </p:nvSpPr>
        <p:spPr>
          <a:xfrm>
            <a:off x="457200" y="54864"/>
            <a:ext cx="4572000" cy="274320"/>
          </a:xfrm>
          <a:prstGeom prst="rect">
            <a:avLst/>
          </a:prstGeom>
          <a:noFill/>
          <a:ln/>
        </p:spPr>
        <p:txBody>
          <a:bodyPr wrap="square" lIns="0" tIns="0" rIns="0" bIns="0" rtlCol="0" anchor="ctr"/>
          <a:lstStyle/>
          <a:p>
            <a:pPr indent="0" marL="0">
              <a:buNone/>
            </a:pPr>
            <a:r>
              <a:rPr lang="en-US" sz="1100" b="1" dirty="0">
                <a:solidFill>
                  <a:srgbClr val="7AAAA6"/>
                </a:solidFill>
                <a:latin typeface="Calibri" pitchFamily="34" charset="0"/>
                <a:ea typeface="Calibri" pitchFamily="34" charset="-122"/>
                <a:cs typeface="Calibri" pitchFamily="34" charset="-120"/>
              </a:rPr>
              <a:t>DEMO  ·  Step 2 of 3</a:t>
            </a:r>
            <a:endParaRPr lang="en-US" sz="1100" dirty="0"/>
          </a:p>
        </p:txBody>
      </p:sp>
      <p:sp>
        <p:nvSpPr>
          <p:cNvPr id="4" name="Text 2"/>
          <p:cNvSpPr/>
          <p:nvPr/>
        </p:nvSpPr>
        <p:spPr>
          <a:xfrm>
            <a:off x="0" y="54864"/>
            <a:ext cx="8869680" cy="274320"/>
          </a:xfrm>
          <a:prstGeom prst="rect">
            <a:avLst/>
          </a:prstGeom>
          <a:noFill/>
          <a:ln/>
        </p:spPr>
        <p:txBody>
          <a:bodyPr wrap="square" lIns="0" tIns="0" rIns="0" bIns="0" rtlCol="0" anchor="ctr"/>
          <a:lstStyle/>
          <a:p>
            <a:pPr algn="r" indent="0" marL="0">
              <a:buNone/>
            </a:pPr>
            <a:r>
              <a:rPr lang="en-US" sz="1100" b="1" dirty="0">
                <a:solidFill>
                  <a:srgbClr val="F4A543"/>
                </a:solidFill>
                <a:latin typeface="Calibri" pitchFamily="34" charset="0"/>
                <a:ea typeface="Calibri" pitchFamily="34" charset="-122"/>
                <a:cs typeface="Calibri" pitchFamily="34" charset="-120"/>
              </a:rPr>
              <a:t>Chat → Create Task</a:t>
            </a:r>
            <a:endParaRPr lang="en-US" sz="11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D3B38"/>
                </a:solidFill>
                <a:latin typeface="Trebuchet MS" pitchFamily="34" charset="0"/>
                <a:ea typeface="Trebuchet MS" pitchFamily="34" charset="-122"/>
                <a:cs typeface="Trebuchet MS" pitchFamily="34" charset="-120"/>
              </a:rPr>
              <a:t>Send a Message — AI Creates the Task</a:t>
            </a:r>
            <a:endParaRPr lang="en-US" sz="2600" dirty="0"/>
          </a:p>
        </p:txBody>
      </p:sp>
      <p:sp>
        <p:nvSpPr>
          <p:cNvPr id="6" name="Shape 4"/>
          <p:cNvSpPr/>
          <p:nvPr/>
        </p:nvSpPr>
        <p:spPr>
          <a:xfrm>
            <a:off x="274320" y="1097280"/>
            <a:ext cx="4114800" cy="3749040"/>
          </a:xfrm>
          <a:prstGeom prst="rect">
            <a:avLst/>
          </a:prstGeom>
          <a:solidFill>
            <a:srgbClr val="FFFFFF"/>
          </a:solidFill>
          <a:ln w="12700">
            <a:solidFill>
              <a:srgbClr val="E0EEEC"/>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161288"/>
            <a:ext cx="3657600" cy="301752"/>
          </a:xfrm>
          <a:prstGeom prst="rect">
            <a:avLst/>
          </a:prstGeom>
          <a:noFill/>
          <a:ln/>
        </p:spPr>
        <p:txBody>
          <a:bodyPr wrap="square" lIns="0" tIns="0" rIns="0" bIns="0" rtlCol="0" anchor="ctr"/>
          <a:lstStyle/>
          <a:p>
            <a:pPr indent="0" marL="0">
              <a:buNone/>
            </a:pPr>
            <a:r>
              <a:rPr lang="en-US" sz="1300" b="1" dirty="0">
                <a:solidFill>
                  <a:srgbClr val="0A7E75"/>
                </a:solidFill>
                <a:latin typeface="Trebuchet MS" pitchFamily="34" charset="0"/>
                <a:ea typeface="Trebuchet MS" pitchFamily="34" charset="-122"/>
                <a:cs typeface="Trebuchet MS" pitchFamily="34" charset="-120"/>
              </a:rPr>
              <a:t>💬  Tasks</a:t>
            </a:r>
            <a:endParaRPr lang="en-US" sz="1300" dirty="0"/>
          </a:p>
        </p:txBody>
      </p:sp>
      <p:sp>
        <p:nvSpPr>
          <p:cNvPr id="8" name="Shape 6"/>
          <p:cNvSpPr/>
          <p:nvPr/>
        </p:nvSpPr>
        <p:spPr>
          <a:xfrm>
            <a:off x="457200" y="1490472"/>
            <a:ext cx="3657600" cy="0"/>
          </a:xfrm>
          <a:prstGeom prst="line">
            <a:avLst/>
          </a:prstGeom>
          <a:noFill/>
          <a:ln w="12700">
            <a:solidFill>
              <a:srgbClr val="D0E8E6"/>
            </a:solidFill>
            <a:prstDash val="solid"/>
          </a:ln>
        </p:spPr>
      </p:sp>
      <p:sp>
        <p:nvSpPr>
          <p:cNvPr id="9" name="Text 7"/>
          <p:cNvSpPr/>
          <p:nvPr/>
        </p:nvSpPr>
        <p:spPr>
          <a:xfrm>
            <a:off x="457200" y="1572768"/>
            <a:ext cx="3657600" cy="256032"/>
          </a:xfrm>
          <a:prstGeom prst="rect">
            <a:avLst/>
          </a:prstGeom>
          <a:noFill/>
          <a:ln/>
        </p:spPr>
        <p:txBody>
          <a:bodyPr wrap="square" lIns="0" tIns="0" rIns="0" bIns="0" rtlCol="0" anchor="ctr"/>
          <a:lstStyle/>
          <a:p>
            <a:pPr indent="0" marL="0">
              <a:buNone/>
            </a:pPr>
            <a:r>
              <a:rPr lang="en-US" sz="900" dirty="0">
                <a:solidFill>
                  <a:srgbClr val="5A7A77"/>
                </a:solidFill>
                <a:latin typeface="Calibri" pitchFamily="34" charset="0"/>
                <a:ea typeface="Calibri" pitchFamily="34" charset="-122"/>
                <a:cs typeface="Calibri" pitchFamily="34" charset="-120"/>
              </a:rPr>
              <a:t>Ask PawPal+ to schedule care tasks:</a:t>
            </a:r>
            <a:endParaRPr lang="en-US" sz="900" dirty="0"/>
          </a:p>
        </p:txBody>
      </p:sp>
      <p:sp>
        <p:nvSpPr>
          <p:cNvPr id="10" name="Shape 8"/>
          <p:cNvSpPr/>
          <p:nvPr/>
        </p:nvSpPr>
        <p:spPr>
          <a:xfrm>
            <a:off x="457200" y="1874520"/>
            <a:ext cx="3657600" cy="502920"/>
          </a:xfrm>
          <a:prstGeom prst="roundRect">
            <a:avLst/>
          </a:prstGeom>
          <a:solidFill>
            <a:srgbClr val="F0FAF9"/>
          </a:solidFill>
          <a:ln w="19050">
            <a:solidFill>
              <a:srgbClr val="0A7E75"/>
            </a:solidFill>
            <a:prstDash val="solid"/>
          </a:ln>
        </p:spPr>
      </p:sp>
      <p:sp>
        <p:nvSpPr>
          <p:cNvPr id="11" name="Text 9"/>
          <p:cNvSpPr/>
          <p:nvPr/>
        </p:nvSpPr>
        <p:spPr>
          <a:xfrm>
            <a:off x="566928" y="1911096"/>
            <a:ext cx="3456432" cy="429768"/>
          </a:xfrm>
          <a:prstGeom prst="rect">
            <a:avLst/>
          </a:prstGeom>
          <a:noFill/>
          <a:ln/>
        </p:spPr>
        <p:txBody>
          <a:bodyPr wrap="square" lIns="0" tIns="0" rIns="0" bIns="0" rtlCol="0" anchor="ctr"/>
          <a:lstStyle/>
          <a:p>
            <a:pPr indent="0" marL="0">
              <a:buNone/>
            </a:pPr>
            <a:r>
              <a:rPr lang="en-US" sz="1000" i="1" dirty="0">
                <a:solidFill>
                  <a:srgbClr val="1A2B2A"/>
                </a:solidFill>
                <a:latin typeface="Calibri" pitchFamily="34" charset="0"/>
                <a:ea typeface="Calibri" pitchFamily="34" charset="-122"/>
                <a:cs typeface="Calibri" pitchFamily="34" charset="-120"/>
              </a:rPr>
              <a:t>"Billy needs his first vaccination</a:t>
            </a:r>
            <a:endParaRPr lang="en-US" sz="1000" dirty="0"/>
          </a:p>
          <a:p>
            <a:pPr indent="0" marL="0">
              <a:buNone/>
            </a:pPr>
            <a:r>
              <a:rPr lang="en-US" sz="1000" i="1" dirty="0">
                <a:solidFill>
                  <a:srgbClr val="1A2B2A"/>
                </a:solidFill>
                <a:latin typeface="Calibri" pitchFamily="34" charset="0"/>
                <a:ea typeface="Calibri" pitchFamily="34" charset="-122"/>
                <a:cs typeface="Calibri" pitchFamily="34" charset="-120"/>
              </a:rPr>
              <a:t>tomorrow morning"</a:t>
            </a:r>
            <a:endParaRPr lang="en-US" sz="1000" dirty="0"/>
          </a:p>
        </p:txBody>
      </p:sp>
      <p:sp>
        <p:nvSpPr>
          <p:cNvPr id="12" name="Shape 10"/>
          <p:cNvSpPr/>
          <p:nvPr/>
        </p:nvSpPr>
        <p:spPr>
          <a:xfrm>
            <a:off x="457200" y="2450592"/>
            <a:ext cx="3657600" cy="292608"/>
          </a:xfrm>
          <a:prstGeom prst="roundRect">
            <a:avLst/>
          </a:prstGeom>
          <a:solidFill>
            <a:srgbClr val="0A7E75"/>
          </a:solidFill>
          <a:ln/>
        </p:spPr>
      </p:sp>
      <p:sp>
        <p:nvSpPr>
          <p:cNvPr id="13" name="Text 11"/>
          <p:cNvSpPr/>
          <p:nvPr/>
        </p:nvSpPr>
        <p:spPr>
          <a:xfrm>
            <a:off x="457200" y="2450592"/>
            <a:ext cx="365760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Send to PawPal+</a:t>
            </a:r>
            <a:endParaRPr lang="en-US" sz="1000" dirty="0"/>
          </a:p>
        </p:txBody>
      </p:sp>
      <p:sp>
        <p:nvSpPr>
          <p:cNvPr id="14" name="Text 12"/>
          <p:cNvSpPr/>
          <p:nvPr/>
        </p:nvSpPr>
        <p:spPr>
          <a:xfrm>
            <a:off x="457200" y="2834640"/>
            <a:ext cx="3657600" cy="228600"/>
          </a:xfrm>
          <a:prstGeom prst="rect">
            <a:avLst/>
          </a:prstGeom>
          <a:noFill/>
          <a:ln/>
        </p:spPr>
        <p:txBody>
          <a:bodyPr wrap="square" lIns="0" tIns="0" rIns="0" bIns="0" rtlCol="0" anchor="ctr"/>
          <a:lstStyle/>
          <a:p>
            <a:pPr indent="0" marL="0">
              <a:buNone/>
            </a:pPr>
            <a:r>
              <a:rPr lang="en-US" sz="900" b="1" dirty="0">
                <a:solidFill>
                  <a:srgbClr val="0D3B38"/>
                </a:solidFill>
                <a:latin typeface="Calibri" pitchFamily="34" charset="0"/>
                <a:ea typeface="Calibri" pitchFamily="34" charset="-122"/>
                <a:cs typeface="Calibri" pitchFamily="34" charset="-120"/>
              </a:rPr>
              <a:t>Agent trace:</a:t>
            </a:r>
            <a:endParaRPr lang="en-US" sz="900" dirty="0"/>
          </a:p>
        </p:txBody>
      </p:sp>
      <p:sp>
        <p:nvSpPr>
          <p:cNvPr id="15" name="Text 13"/>
          <p:cNvSpPr/>
          <p:nvPr/>
        </p:nvSpPr>
        <p:spPr>
          <a:xfrm>
            <a:off x="457200" y="3090672"/>
            <a:ext cx="3657600" cy="256032"/>
          </a:xfrm>
          <a:prstGeom prst="rect">
            <a:avLst/>
          </a:prstGeom>
          <a:noFill/>
          <a:ln/>
        </p:spPr>
        <p:txBody>
          <a:bodyPr wrap="square" lIns="0" tIns="0" rIns="0" bIns="0" rtlCol="0" anchor="ctr"/>
          <a:lstStyle/>
          <a:p>
            <a:pPr indent="0" marL="0">
              <a:buNone/>
            </a:pPr>
            <a:r>
              <a:rPr lang="en-US" sz="950" dirty="0">
                <a:solidFill>
                  <a:srgbClr val="F4A543"/>
                </a:solidFill>
                <a:latin typeface="Consolas" pitchFamily="34" charset="0"/>
                <a:ea typeface="Consolas" pitchFamily="34" charset="-122"/>
                <a:cs typeface="Consolas" pitchFamily="34" charset="-120"/>
              </a:rPr>
              <a:t>→ rag_search: 'puppy vaccination'</a:t>
            </a:r>
            <a:endParaRPr lang="en-US" sz="950" dirty="0"/>
          </a:p>
        </p:txBody>
      </p:sp>
      <p:sp>
        <p:nvSpPr>
          <p:cNvPr id="16" name="Text 14"/>
          <p:cNvSpPr/>
          <p:nvPr/>
        </p:nvSpPr>
        <p:spPr>
          <a:xfrm>
            <a:off x="457200" y="3383280"/>
            <a:ext cx="3657600" cy="256032"/>
          </a:xfrm>
          <a:prstGeom prst="rect">
            <a:avLst/>
          </a:prstGeom>
          <a:noFill/>
          <a:ln/>
        </p:spPr>
        <p:txBody>
          <a:bodyPr wrap="square" lIns="0" tIns="0" rIns="0" bIns="0" rtlCol="0" anchor="ctr"/>
          <a:lstStyle/>
          <a:p>
            <a:pPr indent="0" marL="0">
              <a:buNone/>
            </a:pPr>
            <a:r>
              <a:rPr lang="en-US" sz="950" dirty="0">
                <a:solidFill>
                  <a:srgbClr val="5A7A77"/>
                </a:solidFill>
                <a:latin typeface="Consolas" pitchFamily="34" charset="0"/>
                <a:ea typeface="Consolas" pitchFamily="34" charset="-122"/>
                <a:cs typeface="Consolas" pitchFamily="34" charset="-120"/>
              </a:rPr>
              <a:t>→ KB: Start 6–8 wks, every 3–4 wks</a:t>
            </a:r>
            <a:endParaRPr lang="en-US" sz="950" dirty="0"/>
          </a:p>
        </p:txBody>
      </p:sp>
      <p:sp>
        <p:nvSpPr>
          <p:cNvPr id="17" name="Text 15"/>
          <p:cNvSpPr/>
          <p:nvPr/>
        </p:nvSpPr>
        <p:spPr>
          <a:xfrm>
            <a:off x="457200" y="3675888"/>
            <a:ext cx="3657600" cy="256032"/>
          </a:xfrm>
          <a:prstGeom prst="rect">
            <a:avLst/>
          </a:prstGeom>
          <a:noFill/>
          <a:ln/>
        </p:spPr>
        <p:txBody>
          <a:bodyPr wrap="square" lIns="0" tIns="0" rIns="0" bIns="0" rtlCol="0" anchor="ctr"/>
          <a:lstStyle/>
          <a:p>
            <a:pPr indent="0" marL="0">
              <a:buNone/>
            </a:pPr>
            <a:r>
              <a:rPr lang="en-US" sz="950" dirty="0">
                <a:solidFill>
                  <a:srgbClr val="F4A543"/>
                </a:solidFill>
                <a:latin typeface="Consolas" pitchFamily="34" charset="0"/>
                <a:ea typeface="Consolas" pitchFamily="34" charset="-122"/>
                <a:cs typeface="Consolas" pitchFamily="34" charset="-120"/>
              </a:rPr>
              <a:t>→ create_tasks: Billy, "vaccination"</a:t>
            </a:r>
            <a:endParaRPr lang="en-US" sz="950" dirty="0"/>
          </a:p>
        </p:txBody>
      </p:sp>
      <p:sp>
        <p:nvSpPr>
          <p:cNvPr id="18" name="Text 16"/>
          <p:cNvSpPr/>
          <p:nvPr/>
        </p:nvSpPr>
        <p:spPr>
          <a:xfrm>
            <a:off x="457200" y="3968496"/>
            <a:ext cx="3657600" cy="256032"/>
          </a:xfrm>
          <a:prstGeom prst="rect">
            <a:avLst/>
          </a:prstGeom>
          <a:noFill/>
          <a:ln/>
        </p:spPr>
        <p:txBody>
          <a:bodyPr wrap="square" lIns="0" tIns="0" rIns="0" bIns="0" rtlCol="0" anchor="ctr"/>
          <a:lstStyle/>
          <a:p>
            <a:pPr indent="0" marL="0">
              <a:buNone/>
            </a:pPr>
            <a:r>
              <a:rPr lang="en-US" sz="950" dirty="0">
                <a:solidFill>
                  <a:srgbClr val="27C93F"/>
                </a:solidFill>
                <a:latin typeface="Consolas" pitchFamily="34" charset="0"/>
                <a:ea typeface="Consolas" pitchFamily="34" charset="-122"/>
                <a:cs typeface="Consolas" pitchFamily="34" charset="-120"/>
              </a:rPr>
              <a:t>→ Staged ✓ (awaiting your approval)</a:t>
            </a:r>
            <a:endParaRPr lang="en-US" sz="950" dirty="0"/>
          </a:p>
        </p:txBody>
      </p:sp>
      <p:sp>
        <p:nvSpPr>
          <p:cNvPr id="19" name="Shape 17"/>
          <p:cNvSpPr/>
          <p:nvPr/>
        </p:nvSpPr>
        <p:spPr>
          <a:xfrm>
            <a:off x="457200" y="4279392"/>
            <a:ext cx="3657600" cy="438912"/>
          </a:xfrm>
          <a:prstGeom prst="roundRect">
            <a:avLst/>
          </a:prstGeom>
          <a:solidFill>
            <a:srgbClr val="E8F5F4"/>
          </a:solidFill>
          <a:ln w="12700">
            <a:solidFill>
              <a:srgbClr val="C8E6E4"/>
            </a:solidFill>
            <a:prstDash val="solid"/>
          </a:ln>
        </p:spPr>
      </p:sp>
      <p:sp>
        <p:nvSpPr>
          <p:cNvPr id="20" name="Text 18"/>
          <p:cNvSpPr/>
          <p:nvPr/>
        </p:nvSpPr>
        <p:spPr>
          <a:xfrm>
            <a:off x="566928" y="4315968"/>
            <a:ext cx="3456432" cy="365760"/>
          </a:xfrm>
          <a:prstGeom prst="rect">
            <a:avLst/>
          </a:prstGeom>
          <a:noFill/>
          <a:ln/>
        </p:spPr>
        <p:txBody>
          <a:bodyPr wrap="square" lIns="0" tIns="0" rIns="0" bIns="0" rtlCol="0" anchor="ctr"/>
          <a:lstStyle/>
          <a:p>
            <a:pPr indent="0" marL="0">
              <a:buNone/>
            </a:pPr>
            <a:r>
              <a:rPr lang="en-US" sz="950" i="1" dirty="0">
                <a:solidFill>
                  <a:srgbClr val="0D3B38"/>
                </a:solidFill>
                <a:latin typeface="Calibri" pitchFamily="34" charset="0"/>
                <a:ea typeface="Calibri" pitchFamily="34" charset="-122"/>
                <a:cs typeface="Calibri" pitchFamily="34" charset="-120"/>
              </a:rPr>
              <a:t>🤖  "Scheduled Billy's core vaccine for tomorrow at 9 AM — please review below."</a:t>
            </a:r>
            <a:endParaRPr lang="en-US" sz="950" dirty="0"/>
          </a:p>
        </p:txBody>
      </p:sp>
      <p:sp>
        <p:nvSpPr>
          <p:cNvPr id="21" name="Shape 19"/>
          <p:cNvSpPr/>
          <p:nvPr/>
        </p:nvSpPr>
        <p:spPr>
          <a:xfrm>
            <a:off x="4663440" y="1097280"/>
            <a:ext cx="4206240" cy="3749040"/>
          </a:xfrm>
          <a:prstGeom prst="rect">
            <a:avLst/>
          </a:prstGeom>
          <a:solidFill>
            <a:srgbClr val="FFFFFF"/>
          </a:solidFill>
          <a:ln w="12700">
            <a:solidFill>
              <a:srgbClr val="E0EEEC"/>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800600" y="1161288"/>
            <a:ext cx="3931920" cy="301752"/>
          </a:xfrm>
          <a:prstGeom prst="rect">
            <a:avLst/>
          </a:prstGeom>
          <a:noFill/>
          <a:ln/>
        </p:spPr>
        <p:txBody>
          <a:bodyPr wrap="square" lIns="0" tIns="0" rIns="0" bIns="0" rtlCol="0" anchor="ctr"/>
          <a:lstStyle/>
          <a:p>
            <a:pPr indent="0" marL="0">
              <a:buNone/>
            </a:pPr>
            <a:r>
              <a:rPr lang="en-US" sz="1100" b="1" dirty="0">
                <a:solidFill>
                  <a:srgbClr val="0D3B38"/>
                </a:solidFill>
                <a:latin typeface="Trebuchet MS" pitchFamily="34" charset="0"/>
                <a:ea typeface="Trebuchet MS" pitchFamily="34" charset="-122"/>
                <a:cs typeface="Trebuchet MS" pitchFamily="34" charset="-120"/>
              </a:rPr>
              <a:t>📋  Proposed Tasks — Awaiting Review</a:t>
            </a:r>
            <a:endParaRPr lang="en-US" sz="1100" dirty="0"/>
          </a:p>
        </p:txBody>
      </p:sp>
      <p:sp>
        <p:nvSpPr>
          <p:cNvPr id="23" name="Shape 21"/>
          <p:cNvSpPr/>
          <p:nvPr/>
        </p:nvSpPr>
        <p:spPr>
          <a:xfrm>
            <a:off x="4800600" y="1490472"/>
            <a:ext cx="3749040" cy="0"/>
          </a:xfrm>
          <a:prstGeom prst="line">
            <a:avLst/>
          </a:prstGeom>
          <a:noFill/>
          <a:ln w="12700">
            <a:solidFill>
              <a:srgbClr val="D0E8E6"/>
            </a:solidFill>
            <a:prstDash val="solid"/>
          </a:ln>
        </p:spPr>
      </p:sp>
      <p:sp>
        <p:nvSpPr>
          <p:cNvPr id="24" name="Shape 22"/>
          <p:cNvSpPr/>
          <p:nvPr/>
        </p:nvSpPr>
        <p:spPr>
          <a:xfrm>
            <a:off x="4800600" y="1572768"/>
            <a:ext cx="3749040" cy="1188720"/>
          </a:xfrm>
          <a:prstGeom prst="roundRect">
            <a:avLst/>
          </a:prstGeom>
          <a:solidFill>
            <a:srgbClr val="FFFDF0"/>
          </a:solidFill>
          <a:ln w="19050">
            <a:solidFill>
              <a:srgbClr val="F4A543"/>
            </a:solidFill>
            <a:prstDash val="solid"/>
          </a:ln>
        </p:spPr>
      </p:sp>
      <p:sp>
        <p:nvSpPr>
          <p:cNvPr id="25" name="Shape 23"/>
          <p:cNvSpPr/>
          <p:nvPr/>
        </p:nvSpPr>
        <p:spPr>
          <a:xfrm>
            <a:off x="4892040" y="1645920"/>
            <a:ext cx="1005840" cy="228600"/>
          </a:xfrm>
          <a:prstGeom prst="roundRect">
            <a:avLst/>
          </a:prstGeom>
          <a:solidFill>
            <a:srgbClr val="E8F5E9"/>
          </a:solidFill>
          <a:ln w="12700">
            <a:solidFill>
              <a:srgbClr val="A5D6A7"/>
            </a:solidFill>
            <a:prstDash val="solid"/>
          </a:ln>
        </p:spPr>
      </p:sp>
      <p:sp>
        <p:nvSpPr>
          <p:cNvPr id="26" name="Text 24"/>
          <p:cNvSpPr/>
          <p:nvPr/>
        </p:nvSpPr>
        <p:spPr>
          <a:xfrm>
            <a:off x="4892040" y="1645920"/>
            <a:ext cx="1005840" cy="228600"/>
          </a:xfrm>
          <a:prstGeom prst="rect">
            <a:avLst/>
          </a:prstGeom>
          <a:noFill/>
          <a:ln/>
        </p:spPr>
        <p:txBody>
          <a:bodyPr wrap="square" lIns="0" tIns="0" rIns="0" bIns="0" rtlCol="0" anchor="ctr"/>
          <a:lstStyle/>
          <a:p>
            <a:pPr algn="ctr" indent="0" marL="0">
              <a:buNone/>
            </a:pPr>
            <a:r>
              <a:rPr lang="en-US" sz="800" b="1" dirty="0">
                <a:solidFill>
                  <a:srgbClr val="388E3C"/>
                </a:solidFill>
                <a:latin typeface="Calibri" pitchFamily="34" charset="0"/>
                <a:ea typeface="Calibri" pitchFamily="34" charset="-122"/>
                <a:cs typeface="Calibri" pitchFamily="34" charset="-120"/>
              </a:rPr>
              <a:t>vaccination</a:t>
            </a:r>
            <a:endParaRPr lang="en-US" sz="800" dirty="0"/>
          </a:p>
        </p:txBody>
      </p:sp>
      <p:sp>
        <p:nvSpPr>
          <p:cNvPr id="27" name="Text 25"/>
          <p:cNvSpPr/>
          <p:nvPr/>
        </p:nvSpPr>
        <p:spPr>
          <a:xfrm>
            <a:off x="4892040" y="1901952"/>
            <a:ext cx="3474720" cy="256032"/>
          </a:xfrm>
          <a:prstGeom prst="rect">
            <a:avLst/>
          </a:prstGeom>
          <a:noFill/>
          <a:ln/>
        </p:spPr>
        <p:txBody>
          <a:bodyPr wrap="square" lIns="0" tIns="0" rIns="0" bIns="0" rtlCol="0" anchor="ctr"/>
          <a:lstStyle/>
          <a:p>
            <a:pPr indent="0" marL="0">
              <a:buNone/>
            </a:pPr>
            <a:r>
              <a:rPr lang="en-US" sz="1200" b="1" dirty="0">
                <a:solidFill>
                  <a:srgbClr val="0D3B38"/>
                </a:solidFill>
                <a:latin typeface="Trebuchet MS" pitchFamily="34" charset="0"/>
                <a:ea typeface="Trebuchet MS" pitchFamily="34" charset="-122"/>
                <a:cs typeface="Trebuchet MS" pitchFamily="34" charset="-120"/>
              </a:rPr>
              <a:t>Core Vaccine — Billy</a:t>
            </a:r>
            <a:endParaRPr lang="en-US" sz="1200" dirty="0"/>
          </a:p>
        </p:txBody>
      </p:sp>
      <p:sp>
        <p:nvSpPr>
          <p:cNvPr id="28" name="Text 26"/>
          <p:cNvSpPr/>
          <p:nvPr/>
        </p:nvSpPr>
        <p:spPr>
          <a:xfrm>
            <a:off x="4892040" y="2157984"/>
            <a:ext cx="3474720" cy="228600"/>
          </a:xfrm>
          <a:prstGeom prst="rect">
            <a:avLst/>
          </a:prstGeom>
          <a:noFill/>
          <a:ln/>
        </p:spPr>
        <p:txBody>
          <a:bodyPr wrap="square" lIns="0" tIns="0" rIns="0" bIns="0" rtlCol="0" anchor="ctr"/>
          <a:lstStyle/>
          <a:p>
            <a:pPr indent="0" marL="0">
              <a:buNone/>
            </a:pPr>
            <a:r>
              <a:rPr lang="en-US" sz="1000" dirty="0">
                <a:solidFill>
                  <a:srgbClr val="5A7A77"/>
                </a:solidFill>
                <a:latin typeface="Calibri" pitchFamily="34" charset="0"/>
                <a:ea typeface="Calibri" pitchFamily="34" charset="-122"/>
                <a:cs typeface="Calibri" pitchFamily="34" charset="-120"/>
              </a:rPr>
              <a:t>📅  2026-04-29  ·  09:00  ·  30 min</a:t>
            </a:r>
            <a:endParaRPr lang="en-US" sz="1000" dirty="0"/>
          </a:p>
        </p:txBody>
      </p:sp>
      <p:sp>
        <p:nvSpPr>
          <p:cNvPr id="29" name="Shape 27"/>
          <p:cNvSpPr/>
          <p:nvPr/>
        </p:nvSpPr>
        <p:spPr>
          <a:xfrm>
            <a:off x="4892040" y="2404872"/>
            <a:ext cx="1280160" cy="256032"/>
          </a:xfrm>
          <a:prstGeom prst="roundRect">
            <a:avLst/>
          </a:prstGeom>
          <a:solidFill>
            <a:srgbClr val="E8F5E9"/>
          </a:solidFill>
          <a:ln w="12700">
            <a:solidFill>
              <a:srgbClr val="A5D6A7"/>
            </a:solidFill>
            <a:prstDash val="solid"/>
          </a:ln>
        </p:spPr>
      </p:sp>
      <p:sp>
        <p:nvSpPr>
          <p:cNvPr id="30" name="Text 28"/>
          <p:cNvSpPr/>
          <p:nvPr/>
        </p:nvSpPr>
        <p:spPr>
          <a:xfrm>
            <a:off x="4892040" y="2404872"/>
            <a:ext cx="1280160" cy="256032"/>
          </a:xfrm>
          <a:prstGeom prst="rect">
            <a:avLst/>
          </a:prstGeom>
          <a:noFill/>
          <a:ln/>
        </p:spPr>
        <p:txBody>
          <a:bodyPr wrap="square" lIns="0" tIns="0" rIns="0" bIns="0" rtlCol="0" anchor="ctr"/>
          <a:lstStyle/>
          <a:p>
            <a:pPr algn="ctr" indent="0" marL="0">
              <a:buNone/>
            </a:pPr>
            <a:r>
              <a:rPr lang="en-US" sz="900" b="1" dirty="0">
                <a:solidFill>
                  <a:srgbClr val="388E3C"/>
                </a:solidFill>
                <a:latin typeface="Calibri" pitchFamily="34" charset="0"/>
                <a:ea typeface="Calibri" pitchFamily="34" charset="-122"/>
                <a:cs typeface="Calibri" pitchFamily="34" charset="-120"/>
              </a:rPr>
              <a:t>✅  Approve</a:t>
            </a:r>
            <a:endParaRPr lang="en-US" sz="900" dirty="0"/>
          </a:p>
        </p:txBody>
      </p:sp>
      <p:sp>
        <p:nvSpPr>
          <p:cNvPr id="31" name="Shape 29"/>
          <p:cNvSpPr/>
          <p:nvPr/>
        </p:nvSpPr>
        <p:spPr>
          <a:xfrm>
            <a:off x="6263640" y="2404872"/>
            <a:ext cx="1280160" cy="256032"/>
          </a:xfrm>
          <a:prstGeom prst="roundRect">
            <a:avLst/>
          </a:prstGeom>
          <a:solidFill>
            <a:srgbClr val="FFEBEE"/>
          </a:solidFill>
          <a:ln w="12700">
            <a:solidFill>
              <a:srgbClr val="EF9A9A"/>
            </a:solidFill>
            <a:prstDash val="solid"/>
          </a:ln>
        </p:spPr>
      </p:sp>
      <p:sp>
        <p:nvSpPr>
          <p:cNvPr id="32" name="Text 30"/>
          <p:cNvSpPr/>
          <p:nvPr/>
        </p:nvSpPr>
        <p:spPr>
          <a:xfrm>
            <a:off x="6263640" y="2404872"/>
            <a:ext cx="1280160" cy="256032"/>
          </a:xfrm>
          <a:prstGeom prst="rect">
            <a:avLst/>
          </a:prstGeom>
          <a:noFill/>
          <a:ln/>
        </p:spPr>
        <p:txBody>
          <a:bodyPr wrap="square" lIns="0" tIns="0" rIns="0" bIns="0" rtlCol="0" anchor="ctr"/>
          <a:lstStyle/>
          <a:p>
            <a:pPr algn="ctr" indent="0" marL="0">
              <a:buNone/>
            </a:pPr>
            <a:r>
              <a:rPr lang="en-US" sz="900" b="1" dirty="0">
                <a:solidFill>
                  <a:srgbClr val="C62828"/>
                </a:solidFill>
                <a:latin typeface="Calibri" pitchFamily="34" charset="0"/>
                <a:ea typeface="Calibri" pitchFamily="34" charset="-122"/>
                <a:cs typeface="Calibri" pitchFamily="34" charset="-120"/>
              </a:rPr>
              <a:t>❌  Reject</a:t>
            </a:r>
            <a:endParaRPr lang="en-US" sz="900" dirty="0"/>
          </a:p>
        </p:txBody>
      </p:sp>
      <p:sp>
        <p:nvSpPr>
          <p:cNvPr id="33" name="Text 31"/>
          <p:cNvSpPr/>
          <p:nvPr/>
        </p:nvSpPr>
        <p:spPr>
          <a:xfrm>
            <a:off x="4800600" y="2880360"/>
            <a:ext cx="3749040" cy="320040"/>
          </a:xfrm>
          <a:prstGeom prst="rect">
            <a:avLst/>
          </a:prstGeom>
          <a:noFill/>
          <a:ln/>
        </p:spPr>
        <p:txBody>
          <a:bodyPr wrap="square" lIns="0" tIns="0" rIns="0" bIns="0" rtlCol="0" anchor="ctr"/>
          <a:lstStyle/>
          <a:p>
            <a:pPr indent="0" marL="0">
              <a:buNone/>
            </a:pPr>
            <a:r>
              <a:rPr lang="en-US" sz="1000" i="1" dirty="0">
                <a:solidFill>
                  <a:srgbClr val="0A7E75"/>
                </a:solidFill>
                <a:latin typeface="Calibri" pitchFamily="34" charset="0"/>
                <a:ea typeface="Calibri" pitchFamily="34" charset="-122"/>
                <a:cs typeface="Calibri" pitchFamily="34" charset="-120"/>
              </a:rPr>
              <a:t>Tasks are staged — never saved until you approve.</a:t>
            </a:r>
            <a:endParaRPr lang="en-US" sz="1000" dirty="0"/>
          </a:p>
        </p:txBody>
      </p:sp>
      <p:sp>
        <p:nvSpPr>
          <p:cNvPr id="34" name="Shape 32"/>
          <p:cNvSpPr/>
          <p:nvPr/>
        </p:nvSpPr>
        <p:spPr>
          <a:xfrm>
            <a:off x="4800600" y="3291840"/>
            <a:ext cx="3749040" cy="1417320"/>
          </a:xfrm>
          <a:prstGeom prst="roundRect">
            <a:avLst/>
          </a:prstGeom>
          <a:solidFill>
            <a:srgbClr val="F0FAF9"/>
          </a:solidFill>
          <a:ln w="12700">
            <a:solidFill>
              <a:srgbClr val="0A7E75"/>
            </a:solidFill>
            <a:prstDash val="solid"/>
          </a:ln>
        </p:spPr>
      </p:sp>
      <p:sp>
        <p:nvSpPr>
          <p:cNvPr id="35" name="Text 33"/>
          <p:cNvSpPr/>
          <p:nvPr/>
        </p:nvSpPr>
        <p:spPr>
          <a:xfrm>
            <a:off x="4937760" y="3355848"/>
            <a:ext cx="3474720" cy="274320"/>
          </a:xfrm>
          <a:prstGeom prst="rect">
            <a:avLst/>
          </a:prstGeom>
          <a:noFill/>
          <a:ln/>
        </p:spPr>
        <p:txBody>
          <a:bodyPr wrap="square" lIns="0" tIns="0" rIns="0" bIns="0" rtlCol="0" anchor="ctr"/>
          <a:lstStyle/>
          <a:p>
            <a:pPr indent="0" marL="0">
              <a:buNone/>
            </a:pPr>
            <a:r>
              <a:rPr lang="en-US" sz="1100" b="1" dirty="0">
                <a:solidFill>
                  <a:srgbClr val="0A7E75"/>
                </a:solidFill>
                <a:latin typeface="Trebuchet MS" pitchFamily="34" charset="0"/>
                <a:ea typeface="Trebuchet MS" pitchFamily="34" charset="-122"/>
                <a:cs typeface="Trebuchet MS" pitchFamily="34" charset="-120"/>
              </a:rPr>
              <a:t>Human-in-the-loop design</a:t>
            </a:r>
            <a:endParaRPr lang="en-US" sz="1100" dirty="0"/>
          </a:p>
        </p:txBody>
      </p:sp>
      <p:sp>
        <p:nvSpPr>
          <p:cNvPr id="36" name="Text 34"/>
          <p:cNvSpPr/>
          <p:nvPr/>
        </p:nvSpPr>
        <p:spPr>
          <a:xfrm>
            <a:off x="4937760" y="3630168"/>
            <a:ext cx="3474720" cy="1005840"/>
          </a:xfrm>
          <a:prstGeom prst="rect">
            <a:avLst/>
          </a:prstGeom>
          <a:noFill/>
          <a:ln/>
        </p:spPr>
        <p:txBody>
          <a:bodyPr wrap="square" lIns="0" tIns="0" rIns="0" bIns="0" rtlCol="0" anchor="ctr"/>
          <a:lstStyle/>
          <a:p>
            <a:pPr indent="0" marL="0">
              <a:buNone/>
            </a:pPr>
            <a:r>
              <a:rPr lang="en-US" sz="1000" dirty="0">
                <a:solidFill>
                  <a:srgbClr val="1A2B2A"/>
                </a:solidFill>
                <a:latin typeface="Calibri" pitchFamily="34" charset="0"/>
                <a:ea typeface="Calibri" pitchFamily="34" charset="-122"/>
                <a:cs typeface="Calibri" pitchFamily="34" charset="-120"/>
              </a:rPr>
              <a:t>The agent never writes directly to the schedule. Every proposed task must be reviewed and approved by the owner before it is committed — preventing silent AI errors.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84048"/>
          </a:xfrm>
          <a:prstGeom prst="rect">
            <a:avLst/>
          </a:prstGeom>
          <a:solidFill>
            <a:srgbClr val="0D3B38"/>
          </a:solidFill>
          <a:ln/>
        </p:spPr>
      </p:sp>
      <p:sp>
        <p:nvSpPr>
          <p:cNvPr id="3" name="Text 1"/>
          <p:cNvSpPr/>
          <p:nvPr/>
        </p:nvSpPr>
        <p:spPr>
          <a:xfrm>
            <a:off x="457200" y="54864"/>
            <a:ext cx="4572000" cy="274320"/>
          </a:xfrm>
          <a:prstGeom prst="rect">
            <a:avLst/>
          </a:prstGeom>
          <a:noFill/>
          <a:ln/>
        </p:spPr>
        <p:txBody>
          <a:bodyPr wrap="square" lIns="0" tIns="0" rIns="0" bIns="0" rtlCol="0" anchor="ctr"/>
          <a:lstStyle/>
          <a:p>
            <a:pPr indent="0" marL="0">
              <a:buNone/>
            </a:pPr>
            <a:r>
              <a:rPr lang="en-US" sz="1100" b="1" dirty="0">
                <a:solidFill>
                  <a:srgbClr val="7AAAA6"/>
                </a:solidFill>
                <a:latin typeface="Calibri" pitchFamily="34" charset="0"/>
                <a:ea typeface="Calibri" pitchFamily="34" charset="-122"/>
                <a:cs typeface="Calibri" pitchFamily="34" charset="-120"/>
              </a:rPr>
              <a:t>DEMO  ·  Step 3 of 3</a:t>
            </a:r>
            <a:endParaRPr lang="en-US" sz="1100" dirty="0"/>
          </a:p>
        </p:txBody>
      </p:sp>
      <p:sp>
        <p:nvSpPr>
          <p:cNvPr id="4" name="Text 2"/>
          <p:cNvSpPr/>
          <p:nvPr/>
        </p:nvSpPr>
        <p:spPr>
          <a:xfrm>
            <a:off x="0" y="54864"/>
            <a:ext cx="8869680" cy="274320"/>
          </a:xfrm>
          <a:prstGeom prst="rect">
            <a:avLst/>
          </a:prstGeom>
          <a:noFill/>
          <a:ln/>
        </p:spPr>
        <p:txBody>
          <a:bodyPr wrap="square" lIns="0" tIns="0" rIns="0" bIns="0" rtlCol="0" anchor="ctr"/>
          <a:lstStyle/>
          <a:p>
            <a:pPr algn="r" indent="0" marL="0">
              <a:buNone/>
            </a:pPr>
            <a:r>
              <a:rPr lang="en-US" sz="1100" b="1" dirty="0">
                <a:solidFill>
                  <a:srgbClr val="F4A543"/>
                </a:solidFill>
                <a:latin typeface="Calibri" pitchFamily="34" charset="0"/>
                <a:ea typeface="Calibri" pitchFamily="34" charset="-122"/>
                <a:cs typeface="Calibri" pitchFamily="34" charset="-120"/>
              </a:rPr>
              <a:t>Task &amp; Pet Dashboard</a:t>
            </a:r>
            <a:endParaRPr lang="en-US" sz="1100" dirty="0"/>
          </a:p>
        </p:txBody>
      </p:sp>
      <p:sp>
        <p:nvSpPr>
          <p:cNvPr id="5" name="Text 3"/>
          <p:cNvSpPr/>
          <p:nvPr/>
        </p:nvSpPr>
        <p:spPr>
          <a:xfrm>
            <a:off x="457200" y="502920"/>
            <a:ext cx="8229600" cy="502920"/>
          </a:xfrm>
          <a:prstGeom prst="rect">
            <a:avLst/>
          </a:prstGeom>
          <a:noFill/>
          <a:ln/>
        </p:spPr>
        <p:txBody>
          <a:bodyPr wrap="square" lIns="0" tIns="0" rIns="0" bIns="0" rtlCol="0" anchor="ctr"/>
          <a:lstStyle/>
          <a:p>
            <a:pPr indent="0" marL="0">
              <a:buNone/>
            </a:pPr>
            <a:r>
              <a:rPr lang="en-US" sz="2600" b="1" dirty="0">
                <a:solidFill>
                  <a:srgbClr val="0D3B38"/>
                </a:solidFill>
                <a:latin typeface="Trebuchet MS" pitchFamily="34" charset="0"/>
                <a:ea typeface="Trebuchet MS" pitchFamily="34" charset="-122"/>
                <a:cs typeface="Trebuchet MS" pitchFamily="34" charset="-120"/>
              </a:rPr>
              <a:t>Review Schedule &amp; Pet Profiles</a:t>
            </a:r>
            <a:endParaRPr lang="en-US" sz="2600" dirty="0"/>
          </a:p>
        </p:txBody>
      </p:sp>
      <p:sp>
        <p:nvSpPr>
          <p:cNvPr id="6" name="Shape 4"/>
          <p:cNvSpPr/>
          <p:nvPr/>
        </p:nvSpPr>
        <p:spPr>
          <a:xfrm>
            <a:off x="274320" y="1097280"/>
            <a:ext cx="4114800" cy="3749040"/>
          </a:xfrm>
          <a:prstGeom prst="rect">
            <a:avLst/>
          </a:prstGeom>
          <a:solidFill>
            <a:srgbClr val="FFFFFF"/>
          </a:solidFill>
          <a:ln w="12700">
            <a:solidFill>
              <a:srgbClr val="E0EEEC"/>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097280"/>
            <a:ext cx="1325880" cy="320040"/>
          </a:xfrm>
          <a:prstGeom prst="rect">
            <a:avLst/>
          </a:prstGeom>
          <a:solidFill>
            <a:srgbClr val="0A7E75"/>
          </a:solidFill>
          <a:ln w="12700">
            <a:solidFill>
              <a:srgbClr val="0A7E75"/>
            </a:solidFill>
            <a:prstDash val="solid"/>
          </a:ln>
        </p:spPr>
      </p:sp>
      <p:sp>
        <p:nvSpPr>
          <p:cNvPr id="8" name="Text 6"/>
          <p:cNvSpPr/>
          <p:nvPr/>
        </p:nvSpPr>
        <p:spPr>
          <a:xfrm>
            <a:off x="274320" y="1097280"/>
            <a:ext cx="13258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Tasks ●</a:t>
            </a:r>
            <a:endParaRPr lang="en-US" sz="1000" dirty="0"/>
          </a:p>
        </p:txBody>
      </p:sp>
      <p:sp>
        <p:nvSpPr>
          <p:cNvPr id="9" name="Shape 7"/>
          <p:cNvSpPr/>
          <p:nvPr/>
        </p:nvSpPr>
        <p:spPr>
          <a:xfrm>
            <a:off x="1691640" y="1097280"/>
            <a:ext cx="1325880" cy="320040"/>
          </a:xfrm>
          <a:prstGeom prst="rect">
            <a:avLst/>
          </a:prstGeom>
          <a:solidFill>
            <a:srgbClr val="EDF5F4"/>
          </a:solidFill>
          <a:ln w="12700">
            <a:solidFill>
              <a:srgbClr val="D0E8E6"/>
            </a:solidFill>
            <a:prstDash val="solid"/>
          </a:ln>
        </p:spPr>
      </p:sp>
      <p:sp>
        <p:nvSpPr>
          <p:cNvPr id="10" name="Text 8"/>
          <p:cNvSpPr/>
          <p:nvPr/>
        </p:nvSpPr>
        <p:spPr>
          <a:xfrm>
            <a:off x="1691640" y="1097280"/>
            <a:ext cx="1325880" cy="320040"/>
          </a:xfrm>
          <a:prstGeom prst="rect">
            <a:avLst/>
          </a:prstGeom>
          <a:noFill/>
          <a:ln/>
        </p:spPr>
        <p:txBody>
          <a:bodyPr wrap="square" lIns="0" tIns="0" rIns="0" bIns="0" rtlCol="0" anchor="ctr"/>
          <a:lstStyle/>
          <a:p>
            <a:pPr algn="ctr" indent="0" marL="0">
              <a:buNone/>
            </a:pPr>
            <a:r>
              <a:rPr lang="en-US" sz="1000" dirty="0">
                <a:solidFill>
                  <a:srgbClr val="5A7A77"/>
                </a:solidFill>
                <a:latin typeface="Calibri" pitchFamily="34" charset="0"/>
                <a:ea typeface="Calibri" pitchFamily="34" charset="-122"/>
                <a:cs typeface="Calibri" pitchFamily="34" charset="-120"/>
              </a:rPr>
              <a:t>Pet Profiles</a:t>
            </a:r>
            <a:endParaRPr lang="en-US" sz="1000" dirty="0"/>
          </a:p>
        </p:txBody>
      </p:sp>
      <p:sp>
        <p:nvSpPr>
          <p:cNvPr id="11" name="Text 9"/>
          <p:cNvSpPr/>
          <p:nvPr/>
        </p:nvSpPr>
        <p:spPr>
          <a:xfrm>
            <a:off x="457200" y="1490472"/>
            <a:ext cx="3657600" cy="256032"/>
          </a:xfrm>
          <a:prstGeom prst="rect">
            <a:avLst/>
          </a:prstGeom>
          <a:noFill/>
          <a:ln/>
        </p:spPr>
        <p:txBody>
          <a:bodyPr wrap="square" lIns="0" tIns="0" rIns="0" bIns="0" rtlCol="0" anchor="ctr"/>
          <a:lstStyle/>
          <a:p>
            <a:pPr indent="0" marL="0">
              <a:buNone/>
            </a:pPr>
            <a:r>
              <a:rPr lang="en-US" sz="1000" b="1" dirty="0">
                <a:solidFill>
                  <a:srgbClr val="0D3B38"/>
                </a:solidFill>
                <a:latin typeface="Trebuchet MS" pitchFamily="34" charset="0"/>
                <a:ea typeface="Trebuchet MS" pitchFamily="34" charset="-122"/>
                <a:cs typeface="Trebuchet MS" pitchFamily="34" charset="-120"/>
              </a:rPr>
              <a:t>Confirmed Schedule</a:t>
            </a:r>
            <a:endParaRPr lang="en-US" sz="1000" dirty="0"/>
          </a:p>
        </p:txBody>
      </p:sp>
      <p:sp>
        <p:nvSpPr>
          <p:cNvPr id="12" name="Shape 10"/>
          <p:cNvSpPr/>
          <p:nvPr/>
        </p:nvSpPr>
        <p:spPr>
          <a:xfrm>
            <a:off x="457200" y="1810512"/>
            <a:ext cx="3657600" cy="566928"/>
          </a:xfrm>
          <a:prstGeom prst="roundRect">
            <a:avLst/>
          </a:prstGeom>
          <a:solidFill>
            <a:srgbClr val="E8F5F4"/>
          </a:solidFill>
          <a:ln w="12700">
            <a:solidFill>
              <a:srgbClr val="C8E6E4"/>
            </a:solidFill>
            <a:prstDash val="solid"/>
          </a:ln>
        </p:spPr>
      </p:sp>
      <p:sp>
        <p:nvSpPr>
          <p:cNvPr id="13" name="Shape 11"/>
          <p:cNvSpPr/>
          <p:nvPr/>
        </p:nvSpPr>
        <p:spPr>
          <a:xfrm>
            <a:off x="548640" y="1865376"/>
            <a:ext cx="1097280" cy="182880"/>
          </a:xfrm>
          <a:prstGeom prst="roundRect">
            <a:avLst/>
          </a:prstGeom>
          <a:solidFill>
            <a:srgbClr val="E8F5E9"/>
          </a:solidFill>
          <a:ln w="12700">
            <a:solidFill>
              <a:srgbClr val="A5D6A7"/>
            </a:solidFill>
            <a:prstDash val="solid"/>
          </a:ln>
        </p:spPr>
      </p:sp>
      <p:sp>
        <p:nvSpPr>
          <p:cNvPr id="14" name="Text 12"/>
          <p:cNvSpPr/>
          <p:nvPr/>
        </p:nvSpPr>
        <p:spPr>
          <a:xfrm>
            <a:off x="548640" y="1865376"/>
            <a:ext cx="1097280" cy="182880"/>
          </a:xfrm>
          <a:prstGeom prst="rect">
            <a:avLst/>
          </a:prstGeom>
          <a:noFill/>
          <a:ln/>
        </p:spPr>
        <p:txBody>
          <a:bodyPr wrap="square" lIns="0" tIns="0" rIns="0" bIns="0" rtlCol="0" anchor="ctr"/>
          <a:lstStyle/>
          <a:p>
            <a:pPr algn="ctr" indent="0" marL="0">
              <a:buNone/>
            </a:pPr>
            <a:r>
              <a:rPr lang="en-US" sz="750" b="1" dirty="0">
                <a:solidFill>
                  <a:srgbClr val="388E3C"/>
                </a:solidFill>
                <a:latin typeface="Calibri" pitchFamily="34" charset="0"/>
                <a:ea typeface="Calibri" pitchFamily="34" charset="-122"/>
                <a:cs typeface="Calibri" pitchFamily="34" charset="-120"/>
              </a:rPr>
              <a:t>vaccination</a:t>
            </a:r>
            <a:endParaRPr lang="en-US" sz="750" dirty="0"/>
          </a:p>
        </p:txBody>
      </p:sp>
      <p:sp>
        <p:nvSpPr>
          <p:cNvPr id="15" name="Text 13"/>
          <p:cNvSpPr/>
          <p:nvPr/>
        </p:nvSpPr>
        <p:spPr>
          <a:xfrm>
            <a:off x="548640" y="2066544"/>
            <a:ext cx="2377440" cy="219456"/>
          </a:xfrm>
          <a:prstGeom prst="rect">
            <a:avLst/>
          </a:prstGeom>
          <a:noFill/>
          <a:ln/>
        </p:spPr>
        <p:txBody>
          <a:bodyPr wrap="square" lIns="0" tIns="0" rIns="0" bIns="0" rtlCol="0" anchor="ctr"/>
          <a:lstStyle/>
          <a:p>
            <a:pPr indent="0" marL="0">
              <a:buNone/>
            </a:pPr>
            <a:r>
              <a:rPr lang="en-US" sz="1050" b="1" dirty="0">
                <a:solidFill>
                  <a:srgbClr val="0D3B38"/>
                </a:solidFill>
                <a:latin typeface="Calibri" pitchFamily="34" charset="0"/>
                <a:ea typeface="Calibri" pitchFamily="34" charset="-122"/>
                <a:cs typeface="Calibri" pitchFamily="34" charset="-120"/>
              </a:rPr>
              <a:t>Core Vaccine — Billy</a:t>
            </a:r>
            <a:endParaRPr lang="en-US" sz="1050" dirty="0"/>
          </a:p>
        </p:txBody>
      </p:sp>
      <p:sp>
        <p:nvSpPr>
          <p:cNvPr id="16" name="Text 14"/>
          <p:cNvSpPr/>
          <p:nvPr/>
        </p:nvSpPr>
        <p:spPr>
          <a:xfrm>
            <a:off x="3017520" y="2066544"/>
            <a:ext cx="1005840" cy="219456"/>
          </a:xfrm>
          <a:prstGeom prst="rect">
            <a:avLst/>
          </a:prstGeom>
          <a:noFill/>
          <a:ln/>
        </p:spPr>
        <p:txBody>
          <a:bodyPr wrap="square" lIns="0" tIns="0" rIns="0" bIns="0" rtlCol="0" anchor="ctr"/>
          <a:lstStyle/>
          <a:p>
            <a:pPr algn="r" indent="0" marL="0">
              <a:buNone/>
            </a:pPr>
            <a:r>
              <a:rPr lang="en-US" sz="1000" dirty="0">
                <a:solidFill>
                  <a:srgbClr val="5A7A77"/>
                </a:solidFill>
                <a:latin typeface="Calibri" pitchFamily="34" charset="0"/>
                <a:ea typeface="Calibri" pitchFamily="34" charset="-122"/>
                <a:cs typeface="Calibri" pitchFamily="34" charset="-120"/>
              </a:rPr>
              <a:t>⏰ 09:00</a:t>
            </a:r>
            <a:endParaRPr lang="en-US" sz="1000" dirty="0"/>
          </a:p>
        </p:txBody>
      </p:sp>
      <p:sp>
        <p:nvSpPr>
          <p:cNvPr id="17" name="Shape 15"/>
          <p:cNvSpPr/>
          <p:nvPr/>
        </p:nvSpPr>
        <p:spPr>
          <a:xfrm>
            <a:off x="3337560" y="1865376"/>
            <a:ext cx="685800" cy="182880"/>
          </a:xfrm>
          <a:prstGeom prst="roundRect">
            <a:avLst/>
          </a:prstGeom>
          <a:solidFill>
            <a:srgbClr val="0A7E75"/>
          </a:solidFill>
          <a:ln/>
        </p:spPr>
      </p:sp>
      <p:sp>
        <p:nvSpPr>
          <p:cNvPr id="18" name="Text 16"/>
          <p:cNvSpPr/>
          <p:nvPr/>
        </p:nvSpPr>
        <p:spPr>
          <a:xfrm>
            <a:off x="3337560" y="1865376"/>
            <a:ext cx="6858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Done</a:t>
            </a:r>
            <a:endParaRPr lang="en-US" sz="750" dirty="0"/>
          </a:p>
        </p:txBody>
      </p:sp>
      <p:sp>
        <p:nvSpPr>
          <p:cNvPr id="19" name="Shape 17"/>
          <p:cNvSpPr/>
          <p:nvPr/>
        </p:nvSpPr>
        <p:spPr>
          <a:xfrm>
            <a:off x="457200" y="2468880"/>
            <a:ext cx="3657600" cy="566928"/>
          </a:xfrm>
          <a:prstGeom prst="roundRect">
            <a:avLst/>
          </a:prstGeom>
          <a:solidFill>
            <a:srgbClr val="F1F8F1"/>
          </a:solidFill>
          <a:ln w="12700">
            <a:solidFill>
              <a:srgbClr val="A5D6A7"/>
            </a:solidFill>
            <a:prstDash val="solid"/>
          </a:ln>
        </p:spPr>
      </p:sp>
      <p:sp>
        <p:nvSpPr>
          <p:cNvPr id="20" name="Shape 18"/>
          <p:cNvSpPr/>
          <p:nvPr/>
        </p:nvSpPr>
        <p:spPr>
          <a:xfrm>
            <a:off x="548640" y="2523744"/>
            <a:ext cx="1097280" cy="182880"/>
          </a:xfrm>
          <a:prstGeom prst="roundRect">
            <a:avLst/>
          </a:prstGeom>
          <a:solidFill>
            <a:srgbClr val="E3F2FD"/>
          </a:solidFill>
          <a:ln w="12700">
            <a:solidFill>
              <a:srgbClr val="90CAF9"/>
            </a:solidFill>
            <a:prstDash val="solid"/>
          </a:ln>
        </p:spPr>
      </p:sp>
      <p:sp>
        <p:nvSpPr>
          <p:cNvPr id="21" name="Text 19"/>
          <p:cNvSpPr/>
          <p:nvPr/>
        </p:nvSpPr>
        <p:spPr>
          <a:xfrm>
            <a:off x="548640" y="2523744"/>
            <a:ext cx="1097280" cy="182880"/>
          </a:xfrm>
          <a:prstGeom prst="rect">
            <a:avLst/>
          </a:prstGeom>
          <a:noFill/>
          <a:ln/>
        </p:spPr>
        <p:txBody>
          <a:bodyPr wrap="square" lIns="0" tIns="0" rIns="0" bIns="0" rtlCol="0" anchor="ctr"/>
          <a:lstStyle/>
          <a:p>
            <a:pPr algn="ctr" indent="0" marL="0">
              <a:buNone/>
            </a:pPr>
            <a:r>
              <a:rPr lang="en-US" sz="750" b="1" dirty="0">
                <a:solidFill>
                  <a:srgbClr val="1565C0"/>
                </a:solidFill>
                <a:latin typeface="Calibri" pitchFamily="34" charset="0"/>
                <a:ea typeface="Calibri" pitchFamily="34" charset="-122"/>
                <a:cs typeface="Calibri" pitchFamily="34" charset="-120"/>
              </a:rPr>
              <a:t>exercise</a:t>
            </a:r>
            <a:endParaRPr lang="en-US" sz="750" dirty="0"/>
          </a:p>
        </p:txBody>
      </p:sp>
      <p:sp>
        <p:nvSpPr>
          <p:cNvPr id="22" name="Text 20"/>
          <p:cNvSpPr/>
          <p:nvPr/>
        </p:nvSpPr>
        <p:spPr>
          <a:xfrm>
            <a:off x="548640" y="2724912"/>
            <a:ext cx="2377440" cy="219456"/>
          </a:xfrm>
          <a:prstGeom prst="rect">
            <a:avLst/>
          </a:prstGeom>
          <a:noFill/>
          <a:ln/>
        </p:spPr>
        <p:txBody>
          <a:bodyPr wrap="square" lIns="0" tIns="0" rIns="0" bIns="0" rtlCol="0" anchor="ctr"/>
          <a:lstStyle/>
          <a:p>
            <a:pPr indent="0" marL="0">
              <a:buNone/>
            </a:pPr>
            <a:r>
              <a:rPr lang="en-US" sz="1050" b="1" dirty="0">
                <a:solidFill>
                  <a:srgbClr val="0D3B38"/>
                </a:solidFill>
                <a:latin typeface="Calibri" pitchFamily="34" charset="0"/>
                <a:ea typeface="Calibri" pitchFamily="34" charset="-122"/>
                <a:cs typeface="Calibri" pitchFamily="34" charset="-120"/>
              </a:rPr>
              <a:t>Morning Walk — Billy</a:t>
            </a:r>
            <a:endParaRPr lang="en-US" sz="1050" dirty="0"/>
          </a:p>
        </p:txBody>
      </p:sp>
      <p:sp>
        <p:nvSpPr>
          <p:cNvPr id="23" name="Text 21"/>
          <p:cNvSpPr/>
          <p:nvPr/>
        </p:nvSpPr>
        <p:spPr>
          <a:xfrm>
            <a:off x="3017520" y="2724912"/>
            <a:ext cx="1005840" cy="219456"/>
          </a:xfrm>
          <a:prstGeom prst="rect">
            <a:avLst/>
          </a:prstGeom>
          <a:noFill/>
          <a:ln/>
        </p:spPr>
        <p:txBody>
          <a:bodyPr wrap="square" lIns="0" tIns="0" rIns="0" bIns="0" rtlCol="0" anchor="ctr"/>
          <a:lstStyle/>
          <a:p>
            <a:pPr algn="r" indent="0" marL="0">
              <a:buNone/>
            </a:pPr>
            <a:r>
              <a:rPr lang="en-US" sz="1000" dirty="0">
                <a:solidFill>
                  <a:srgbClr val="5A7A77"/>
                </a:solidFill>
                <a:latin typeface="Calibri" pitchFamily="34" charset="0"/>
                <a:ea typeface="Calibri" pitchFamily="34" charset="-122"/>
                <a:cs typeface="Calibri" pitchFamily="34" charset="-120"/>
              </a:rPr>
              <a:t>⏰ 08:00</a:t>
            </a:r>
            <a:endParaRPr lang="en-US" sz="1000" dirty="0"/>
          </a:p>
        </p:txBody>
      </p:sp>
      <p:sp>
        <p:nvSpPr>
          <p:cNvPr id="24" name="Text 22"/>
          <p:cNvSpPr/>
          <p:nvPr/>
        </p:nvSpPr>
        <p:spPr>
          <a:xfrm>
            <a:off x="3200400" y="2523744"/>
            <a:ext cx="822960" cy="182880"/>
          </a:xfrm>
          <a:prstGeom prst="rect">
            <a:avLst/>
          </a:prstGeom>
          <a:noFill/>
          <a:ln/>
        </p:spPr>
        <p:txBody>
          <a:bodyPr wrap="square" lIns="0" tIns="0" rIns="0" bIns="0" rtlCol="0" anchor="ctr"/>
          <a:lstStyle/>
          <a:p>
            <a:pPr algn="r" indent="0" marL="0">
              <a:buNone/>
            </a:pPr>
            <a:r>
              <a:rPr lang="en-US" sz="800" dirty="0">
                <a:solidFill>
                  <a:srgbClr val="388E3C"/>
                </a:solidFill>
                <a:latin typeface="Calibri" pitchFamily="34" charset="0"/>
                <a:ea typeface="Calibri" pitchFamily="34" charset="-122"/>
                <a:cs typeface="Calibri" pitchFamily="34" charset="-120"/>
              </a:rPr>
              <a:t>✓ Done</a:t>
            </a:r>
            <a:endParaRPr lang="en-US" sz="800" dirty="0"/>
          </a:p>
        </p:txBody>
      </p:sp>
      <p:sp>
        <p:nvSpPr>
          <p:cNvPr id="25" name="Shape 23"/>
          <p:cNvSpPr/>
          <p:nvPr/>
        </p:nvSpPr>
        <p:spPr>
          <a:xfrm>
            <a:off x="457200" y="3127248"/>
            <a:ext cx="3657600" cy="566928"/>
          </a:xfrm>
          <a:prstGeom prst="roundRect">
            <a:avLst/>
          </a:prstGeom>
          <a:solidFill>
            <a:srgbClr val="E8F5F4"/>
          </a:solidFill>
          <a:ln w="12700">
            <a:solidFill>
              <a:srgbClr val="C8E6E4"/>
            </a:solidFill>
            <a:prstDash val="solid"/>
          </a:ln>
        </p:spPr>
      </p:sp>
      <p:sp>
        <p:nvSpPr>
          <p:cNvPr id="26" name="Shape 24"/>
          <p:cNvSpPr/>
          <p:nvPr/>
        </p:nvSpPr>
        <p:spPr>
          <a:xfrm>
            <a:off x="548640" y="3182112"/>
            <a:ext cx="1097280" cy="182880"/>
          </a:xfrm>
          <a:prstGeom prst="roundRect">
            <a:avLst/>
          </a:prstGeom>
          <a:solidFill>
            <a:srgbClr val="E8F5E9"/>
          </a:solidFill>
          <a:ln w="12700">
            <a:solidFill>
              <a:srgbClr val="A5D6A7"/>
            </a:solidFill>
            <a:prstDash val="solid"/>
          </a:ln>
        </p:spPr>
      </p:sp>
      <p:sp>
        <p:nvSpPr>
          <p:cNvPr id="27" name="Text 25"/>
          <p:cNvSpPr/>
          <p:nvPr/>
        </p:nvSpPr>
        <p:spPr>
          <a:xfrm>
            <a:off x="548640" y="3182112"/>
            <a:ext cx="1097280" cy="182880"/>
          </a:xfrm>
          <a:prstGeom prst="rect">
            <a:avLst/>
          </a:prstGeom>
          <a:noFill/>
          <a:ln/>
        </p:spPr>
        <p:txBody>
          <a:bodyPr wrap="square" lIns="0" tIns="0" rIns="0" bIns="0" rtlCol="0" anchor="ctr"/>
          <a:lstStyle/>
          <a:p>
            <a:pPr algn="ctr" indent="0" marL="0">
              <a:buNone/>
            </a:pPr>
            <a:r>
              <a:rPr lang="en-US" sz="750" b="1" dirty="0">
                <a:solidFill>
                  <a:srgbClr val="388E3C"/>
                </a:solidFill>
                <a:latin typeface="Calibri" pitchFamily="34" charset="0"/>
                <a:ea typeface="Calibri" pitchFamily="34" charset="-122"/>
                <a:cs typeface="Calibri" pitchFamily="34" charset="-120"/>
              </a:rPr>
              <a:t>vaccination</a:t>
            </a:r>
            <a:endParaRPr lang="en-US" sz="750" dirty="0"/>
          </a:p>
        </p:txBody>
      </p:sp>
      <p:sp>
        <p:nvSpPr>
          <p:cNvPr id="28" name="Text 26"/>
          <p:cNvSpPr/>
          <p:nvPr/>
        </p:nvSpPr>
        <p:spPr>
          <a:xfrm>
            <a:off x="548640" y="3383280"/>
            <a:ext cx="2377440" cy="219456"/>
          </a:xfrm>
          <a:prstGeom prst="rect">
            <a:avLst/>
          </a:prstGeom>
          <a:noFill/>
          <a:ln/>
        </p:spPr>
        <p:txBody>
          <a:bodyPr wrap="square" lIns="0" tIns="0" rIns="0" bIns="0" rtlCol="0" anchor="ctr"/>
          <a:lstStyle/>
          <a:p>
            <a:pPr indent="0" marL="0">
              <a:buNone/>
            </a:pPr>
            <a:r>
              <a:rPr lang="en-US" sz="1050" b="1" dirty="0">
                <a:solidFill>
                  <a:srgbClr val="0D3B38"/>
                </a:solidFill>
                <a:latin typeface="Calibri" pitchFamily="34" charset="0"/>
                <a:ea typeface="Calibri" pitchFamily="34" charset="-122"/>
                <a:cs typeface="Calibri" pitchFamily="34" charset="-120"/>
              </a:rPr>
              <a:t>Rabies Shot — Doudou</a:t>
            </a:r>
            <a:endParaRPr lang="en-US" sz="1050" dirty="0"/>
          </a:p>
        </p:txBody>
      </p:sp>
      <p:sp>
        <p:nvSpPr>
          <p:cNvPr id="29" name="Text 27"/>
          <p:cNvSpPr/>
          <p:nvPr/>
        </p:nvSpPr>
        <p:spPr>
          <a:xfrm>
            <a:off x="3017520" y="3383280"/>
            <a:ext cx="1005840" cy="219456"/>
          </a:xfrm>
          <a:prstGeom prst="rect">
            <a:avLst/>
          </a:prstGeom>
          <a:noFill/>
          <a:ln/>
        </p:spPr>
        <p:txBody>
          <a:bodyPr wrap="square" lIns="0" tIns="0" rIns="0" bIns="0" rtlCol="0" anchor="ctr"/>
          <a:lstStyle/>
          <a:p>
            <a:pPr algn="r" indent="0" marL="0">
              <a:buNone/>
            </a:pPr>
            <a:r>
              <a:rPr lang="en-US" sz="1000" dirty="0">
                <a:solidFill>
                  <a:srgbClr val="5A7A77"/>
                </a:solidFill>
                <a:latin typeface="Calibri" pitchFamily="34" charset="0"/>
                <a:ea typeface="Calibri" pitchFamily="34" charset="-122"/>
                <a:cs typeface="Calibri" pitchFamily="34" charset="-120"/>
              </a:rPr>
              <a:t>⏰ 10:30</a:t>
            </a:r>
            <a:endParaRPr lang="en-US" sz="1000" dirty="0"/>
          </a:p>
        </p:txBody>
      </p:sp>
      <p:sp>
        <p:nvSpPr>
          <p:cNvPr id="30" name="Shape 28"/>
          <p:cNvSpPr/>
          <p:nvPr/>
        </p:nvSpPr>
        <p:spPr>
          <a:xfrm>
            <a:off x="3337560" y="3182112"/>
            <a:ext cx="685800" cy="182880"/>
          </a:xfrm>
          <a:prstGeom prst="roundRect">
            <a:avLst/>
          </a:prstGeom>
          <a:solidFill>
            <a:srgbClr val="0A7E75"/>
          </a:solidFill>
          <a:ln/>
        </p:spPr>
      </p:sp>
      <p:sp>
        <p:nvSpPr>
          <p:cNvPr id="31" name="Text 29"/>
          <p:cNvSpPr/>
          <p:nvPr/>
        </p:nvSpPr>
        <p:spPr>
          <a:xfrm>
            <a:off x="3337560" y="3182112"/>
            <a:ext cx="685800" cy="182880"/>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Done</a:t>
            </a:r>
            <a:endParaRPr lang="en-US" sz="750" dirty="0"/>
          </a:p>
        </p:txBody>
      </p:sp>
      <p:sp>
        <p:nvSpPr>
          <p:cNvPr id="32" name="Shape 30"/>
          <p:cNvSpPr/>
          <p:nvPr/>
        </p:nvSpPr>
        <p:spPr>
          <a:xfrm>
            <a:off x="4663440" y="1097280"/>
            <a:ext cx="4206240" cy="3749040"/>
          </a:xfrm>
          <a:prstGeom prst="rect">
            <a:avLst/>
          </a:prstGeom>
          <a:solidFill>
            <a:srgbClr val="FFFFFF"/>
          </a:solidFill>
          <a:ln w="12700">
            <a:solidFill>
              <a:srgbClr val="E0EEEC"/>
            </a:solidFill>
            <a:prstDash val="solid"/>
          </a:ln>
          <a:effectLst>
            <a:outerShdw sx="100000" sy="100000" kx="0" ky="0" algn="bl" rotWithShape="0" blurRad="101600" dist="38100" dir="8100000">
              <a:srgbClr val="000000">
                <a:alpha val="12000"/>
              </a:srgbClr>
            </a:outerShdw>
          </a:effectLst>
        </p:spPr>
      </p:sp>
      <p:sp>
        <p:nvSpPr>
          <p:cNvPr id="33" name="Shape 31"/>
          <p:cNvSpPr/>
          <p:nvPr/>
        </p:nvSpPr>
        <p:spPr>
          <a:xfrm>
            <a:off x="4663440" y="1097280"/>
            <a:ext cx="1325880" cy="320040"/>
          </a:xfrm>
          <a:prstGeom prst="rect">
            <a:avLst/>
          </a:prstGeom>
          <a:solidFill>
            <a:srgbClr val="EDF5F4"/>
          </a:solidFill>
          <a:ln w="12700">
            <a:solidFill>
              <a:srgbClr val="D0E8E6"/>
            </a:solidFill>
            <a:prstDash val="solid"/>
          </a:ln>
        </p:spPr>
      </p:sp>
      <p:sp>
        <p:nvSpPr>
          <p:cNvPr id="34" name="Text 32"/>
          <p:cNvSpPr/>
          <p:nvPr/>
        </p:nvSpPr>
        <p:spPr>
          <a:xfrm>
            <a:off x="4663440" y="1097280"/>
            <a:ext cx="1325880" cy="320040"/>
          </a:xfrm>
          <a:prstGeom prst="rect">
            <a:avLst/>
          </a:prstGeom>
          <a:noFill/>
          <a:ln/>
        </p:spPr>
        <p:txBody>
          <a:bodyPr wrap="square" lIns="0" tIns="0" rIns="0" bIns="0" rtlCol="0" anchor="ctr"/>
          <a:lstStyle/>
          <a:p>
            <a:pPr algn="ctr" indent="0" marL="0">
              <a:buNone/>
            </a:pPr>
            <a:r>
              <a:rPr lang="en-US" sz="1000" dirty="0">
                <a:solidFill>
                  <a:srgbClr val="5A7A77"/>
                </a:solidFill>
                <a:latin typeface="Calibri" pitchFamily="34" charset="0"/>
                <a:ea typeface="Calibri" pitchFamily="34" charset="-122"/>
                <a:cs typeface="Calibri" pitchFamily="34" charset="-120"/>
              </a:rPr>
              <a:t>Tasks</a:t>
            </a:r>
            <a:endParaRPr lang="en-US" sz="1000" dirty="0"/>
          </a:p>
        </p:txBody>
      </p:sp>
      <p:sp>
        <p:nvSpPr>
          <p:cNvPr id="35" name="Shape 33"/>
          <p:cNvSpPr/>
          <p:nvPr/>
        </p:nvSpPr>
        <p:spPr>
          <a:xfrm>
            <a:off x="6080760" y="1097280"/>
            <a:ext cx="1325880" cy="320040"/>
          </a:xfrm>
          <a:prstGeom prst="rect">
            <a:avLst/>
          </a:prstGeom>
          <a:solidFill>
            <a:srgbClr val="0A7E75"/>
          </a:solidFill>
          <a:ln w="12700">
            <a:solidFill>
              <a:srgbClr val="0A7E75"/>
            </a:solidFill>
            <a:prstDash val="solid"/>
          </a:ln>
        </p:spPr>
      </p:sp>
      <p:sp>
        <p:nvSpPr>
          <p:cNvPr id="36" name="Text 34"/>
          <p:cNvSpPr/>
          <p:nvPr/>
        </p:nvSpPr>
        <p:spPr>
          <a:xfrm>
            <a:off x="6080760" y="1097280"/>
            <a:ext cx="1325880" cy="3200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Pet Profiles ●</a:t>
            </a:r>
            <a:endParaRPr lang="en-US" sz="1000" dirty="0"/>
          </a:p>
        </p:txBody>
      </p:sp>
      <p:sp>
        <p:nvSpPr>
          <p:cNvPr id="37" name="Text 35"/>
          <p:cNvSpPr/>
          <p:nvPr/>
        </p:nvSpPr>
        <p:spPr>
          <a:xfrm>
            <a:off x="4800600" y="1490472"/>
            <a:ext cx="3931920" cy="256032"/>
          </a:xfrm>
          <a:prstGeom prst="rect">
            <a:avLst/>
          </a:prstGeom>
          <a:noFill/>
          <a:ln/>
        </p:spPr>
        <p:txBody>
          <a:bodyPr wrap="square" lIns="0" tIns="0" rIns="0" bIns="0" rtlCol="0" anchor="ctr"/>
          <a:lstStyle/>
          <a:p>
            <a:pPr indent="0" marL="0">
              <a:buNone/>
            </a:pPr>
            <a:r>
              <a:rPr lang="en-US" sz="1000" b="1" dirty="0">
                <a:solidFill>
                  <a:srgbClr val="0D3B38"/>
                </a:solidFill>
                <a:latin typeface="Trebuchet MS" pitchFamily="34" charset="0"/>
                <a:ea typeface="Trebuchet MS" pitchFamily="34" charset="-122"/>
                <a:cs typeface="Trebuchet MS" pitchFamily="34" charset="-120"/>
              </a:rPr>
              <a:t>Pet Profiles</a:t>
            </a:r>
            <a:endParaRPr lang="en-US" sz="1000" dirty="0"/>
          </a:p>
        </p:txBody>
      </p:sp>
      <p:sp>
        <p:nvSpPr>
          <p:cNvPr id="38" name="Shape 36"/>
          <p:cNvSpPr/>
          <p:nvPr/>
        </p:nvSpPr>
        <p:spPr>
          <a:xfrm>
            <a:off x="4800600" y="1801368"/>
            <a:ext cx="3840480" cy="1463040"/>
          </a:xfrm>
          <a:prstGeom prst="roundRect">
            <a:avLst/>
          </a:prstGeom>
          <a:solidFill>
            <a:srgbClr val="E8F5F4"/>
          </a:solidFill>
          <a:ln w="12700">
            <a:solidFill>
              <a:srgbClr val="C8E6E4"/>
            </a:solidFill>
            <a:prstDash val="solid"/>
          </a:ln>
        </p:spPr>
      </p:sp>
      <p:sp>
        <p:nvSpPr>
          <p:cNvPr id="39" name="Text 37"/>
          <p:cNvSpPr/>
          <p:nvPr/>
        </p:nvSpPr>
        <p:spPr>
          <a:xfrm>
            <a:off x="4937760" y="1865376"/>
            <a:ext cx="2743200" cy="320040"/>
          </a:xfrm>
          <a:prstGeom prst="rect">
            <a:avLst/>
          </a:prstGeom>
          <a:noFill/>
          <a:ln/>
        </p:spPr>
        <p:txBody>
          <a:bodyPr wrap="square" lIns="0" tIns="0" rIns="0" bIns="0" rtlCol="0" anchor="ctr"/>
          <a:lstStyle/>
          <a:p>
            <a:pPr indent="0" marL="0">
              <a:buNone/>
            </a:pPr>
            <a:r>
              <a:rPr lang="en-US" sz="1400" b="1" dirty="0">
                <a:solidFill>
                  <a:srgbClr val="0D3B38"/>
                </a:solidFill>
                <a:latin typeface="Trebuchet MS" pitchFamily="34" charset="0"/>
                <a:ea typeface="Trebuchet MS" pitchFamily="34" charset="-122"/>
                <a:cs typeface="Trebuchet MS" pitchFamily="34" charset="-120"/>
              </a:rPr>
              <a:t>🐶  Billy</a:t>
            </a:r>
            <a:endParaRPr lang="en-US" sz="1400" dirty="0"/>
          </a:p>
        </p:txBody>
      </p:sp>
      <p:sp>
        <p:nvSpPr>
          <p:cNvPr id="40" name="Text 38"/>
          <p:cNvSpPr/>
          <p:nvPr/>
        </p:nvSpPr>
        <p:spPr>
          <a:xfrm>
            <a:off x="4937760" y="2176272"/>
            <a:ext cx="3566160" cy="219456"/>
          </a:xfrm>
          <a:prstGeom prst="rect">
            <a:avLst/>
          </a:prstGeom>
          <a:noFill/>
          <a:ln/>
        </p:spPr>
        <p:txBody>
          <a:bodyPr wrap="square" lIns="0" tIns="0" rIns="0" bIns="0" rtlCol="0" anchor="ctr"/>
          <a:lstStyle/>
          <a:p>
            <a:pPr indent="0" marL="0">
              <a:buNone/>
            </a:pPr>
            <a:r>
              <a:rPr lang="en-US" sz="950" dirty="0">
                <a:solidFill>
                  <a:srgbClr val="5A7A77"/>
                </a:solidFill>
                <a:latin typeface="Calibri" pitchFamily="34" charset="0"/>
                <a:ea typeface="Calibri" pitchFamily="34" charset="-122"/>
                <a:cs typeface="Calibri" pitchFamily="34" charset="-120"/>
              </a:rPr>
              <a:t>Golden Retriever  ·  6 months  ·  Intact</a:t>
            </a:r>
            <a:endParaRPr lang="en-US" sz="950" dirty="0"/>
          </a:p>
        </p:txBody>
      </p:sp>
      <p:sp>
        <p:nvSpPr>
          <p:cNvPr id="41" name="Text 39"/>
          <p:cNvSpPr/>
          <p:nvPr/>
        </p:nvSpPr>
        <p:spPr>
          <a:xfrm>
            <a:off x="4937760" y="2450592"/>
            <a:ext cx="3566160" cy="219456"/>
          </a:xfrm>
          <a:prstGeom prst="rect">
            <a:avLst/>
          </a:prstGeom>
          <a:noFill/>
          <a:ln/>
        </p:spPr>
        <p:txBody>
          <a:bodyPr wrap="square" lIns="0" tIns="0" rIns="0" bIns="0" rtlCol="0" anchor="ctr"/>
          <a:lstStyle/>
          <a:p>
            <a:pPr indent="0" marL="0">
              <a:buNone/>
            </a:pPr>
            <a:r>
              <a:rPr lang="en-US" sz="900" b="1" dirty="0">
                <a:solidFill>
                  <a:srgbClr val="0A7E75"/>
                </a:solidFill>
                <a:latin typeface="Calibri" pitchFamily="34" charset="0"/>
                <a:ea typeface="Calibri" pitchFamily="34" charset="-122"/>
                <a:cs typeface="Calibri" pitchFamily="34" charset="-120"/>
              </a:rPr>
              <a:t>Vaccination History</a:t>
            </a:r>
            <a:endParaRPr lang="en-US" sz="900" dirty="0"/>
          </a:p>
        </p:txBody>
      </p:sp>
      <p:sp>
        <p:nvSpPr>
          <p:cNvPr id="42" name="Shape 40"/>
          <p:cNvSpPr/>
          <p:nvPr/>
        </p:nvSpPr>
        <p:spPr>
          <a:xfrm>
            <a:off x="4937760" y="2688336"/>
            <a:ext cx="3566160" cy="219456"/>
          </a:xfrm>
          <a:prstGeom prst="roundRect">
            <a:avLst/>
          </a:prstGeom>
          <a:solidFill>
            <a:srgbClr val="E8F5E9"/>
          </a:solidFill>
          <a:ln w="12700">
            <a:solidFill>
              <a:srgbClr val="A5D6A7"/>
            </a:solidFill>
            <a:prstDash val="solid"/>
          </a:ln>
        </p:spPr>
      </p:sp>
      <p:sp>
        <p:nvSpPr>
          <p:cNvPr id="43" name="Text 41"/>
          <p:cNvSpPr/>
          <p:nvPr/>
        </p:nvSpPr>
        <p:spPr>
          <a:xfrm>
            <a:off x="5029200" y="2697480"/>
            <a:ext cx="3383280" cy="201168"/>
          </a:xfrm>
          <a:prstGeom prst="rect">
            <a:avLst/>
          </a:prstGeom>
          <a:noFill/>
          <a:ln/>
        </p:spPr>
        <p:txBody>
          <a:bodyPr wrap="square" lIns="0" tIns="0" rIns="0" bIns="0" rtlCol="0" anchor="ctr"/>
          <a:lstStyle/>
          <a:p>
            <a:pPr indent="0" marL="0">
              <a:buNone/>
            </a:pPr>
            <a:r>
              <a:rPr lang="en-US" sz="900" dirty="0">
                <a:solidFill>
                  <a:srgbClr val="2E7D32"/>
                </a:solidFill>
                <a:latin typeface="Calibri" pitchFamily="34" charset="0"/>
                <a:ea typeface="Calibri" pitchFamily="34" charset="-122"/>
                <a:cs typeface="Calibri" pitchFamily="34" charset="-120"/>
              </a:rPr>
              <a:t>✅  Core Vaccine  —  given 2026-04-29</a:t>
            </a:r>
            <a:endParaRPr lang="en-US" sz="900" dirty="0"/>
          </a:p>
        </p:txBody>
      </p:sp>
      <p:sp>
        <p:nvSpPr>
          <p:cNvPr id="44" name="Text 42"/>
          <p:cNvSpPr/>
          <p:nvPr/>
        </p:nvSpPr>
        <p:spPr>
          <a:xfrm>
            <a:off x="4937760" y="2944368"/>
            <a:ext cx="3566160" cy="201168"/>
          </a:xfrm>
          <a:prstGeom prst="rect">
            <a:avLst/>
          </a:prstGeom>
          <a:noFill/>
          <a:ln/>
        </p:spPr>
        <p:txBody>
          <a:bodyPr wrap="square" lIns="0" tIns="0" rIns="0" bIns="0" rtlCol="0" anchor="ctr"/>
          <a:lstStyle/>
          <a:p>
            <a:pPr indent="0" marL="0">
              <a:buNone/>
            </a:pPr>
            <a:r>
              <a:rPr lang="en-US" sz="850" i="1" dirty="0">
                <a:solidFill>
                  <a:srgbClr val="F4A543"/>
                </a:solidFill>
                <a:latin typeface="Calibri" pitchFamily="34" charset="0"/>
                <a:ea typeface="Calibri" pitchFamily="34" charset="-122"/>
                <a:cs typeface="Calibri" pitchFamily="34" charset="-120"/>
              </a:rPr>
              <a:t>Auto-recorded when task marked Done ↑</a:t>
            </a:r>
            <a:endParaRPr lang="en-US" sz="850" dirty="0"/>
          </a:p>
        </p:txBody>
      </p:sp>
      <p:sp>
        <p:nvSpPr>
          <p:cNvPr id="45" name="Shape 43"/>
          <p:cNvSpPr/>
          <p:nvPr/>
        </p:nvSpPr>
        <p:spPr>
          <a:xfrm>
            <a:off x="4800600" y="3337560"/>
            <a:ext cx="3840480" cy="1325880"/>
          </a:xfrm>
          <a:prstGeom prst="roundRect">
            <a:avLst/>
          </a:prstGeom>
          <a:solidFill>
            <a:srgbClr val="E8F5F4"/>
          </a:solidFill>
          <a:ln w="12700">
            <a:solidFill>
              <a:srgbClr val="C8E6E4"/>
            </a:solidFill>
            <a:prstDash val="solid"/>
          </a:ln>
        </p:spPr>
      </p:sp>
      <p:sp>
        <p:nvSpPr>
          <p:cNvPr id="46" name="Text 44"/>
          <p:cNvSpPr/>
          <p:nvPr/>
        </p:nvSpPr>
        <p:spPr>
          <a:xfrm>
            <a:off x="4937760" y="3401568"/>
            <a:ext cx="2743200" cy="320040"/>
          </a:xfrm>
          <a:prstGeom prst="rect">
            <a:avLst/>
          </a:prstGeom>
          <a:noFill/>
          <a:ln/>
        </p:spPr>
        <p:txBody>
          <a:bodyPr wrap="square" lIns="0" tIns="0" rIns="0" bIns="0" rtlCol="0" anchor="ctr"/>
          <a:lstStyle/>
          <a:p>
            <a:pPr indent="0" marL="0">
              <a:buNone/>
            </a:pPr>
            <a:r>
              <a:rPr lang="en-US" sz="1400" b="1" dirty="0">
                <a:solidFill>
                  <a:srgbClr val="0D3B38"/>
                </a:solidFill>
                <a:latin typeface="Trebuchet MS" pitchFamily="34" charset="0"/>
                <a:ea typeface="Trebuchet MS" pitchFamily="34" charset="-122"/>
                <a:cs typeface="Trebuchet MS" pitchFamily="34" charset="-120"/>
              </a:rPr>
              <a:t>🐱  Doudou</a:t>
            </a:r>
            <a:endParaRPr lang="en-US" sz="1400" dirty="0"/>
          </a:p>
        </p:txBody>
      </p:sp>
      <p:sp>
        <p:nvSpPr>
          <p:cNvPr id="47" name="Text 45"/>
          <p:cNvSpPr/>
          <p:nvPr/>
        </p:nvSpPr>
        <p:spPr>
          <a:xfrm>
            <a:off x="4937760" y="3712464"/>
            <a:ext cx="3566160" cy="219456"/>
          </a:xfrm>
          <a:prstGeom prst="rect">
            <a:avLst/>
          </a:prstGeom>
          <a:noFill/>
          <a:ln/>
        </p:spPr>
        <p:txBody>
          <a:bodyPr wrap="square" lIns="0" tIns="0" rIns="0" bIns="0" rtlCol="0" anchor="ctr"/>
          <a:lstStyle/>
          <a:p>
            <a:pPr indent="0" marL="0">
              <a:buNone/>
            </a:pPr>
            <a:r>
              <a:rPr lang="en-US" sz="950" dirty="0">
                <a:solidFill>
                  <a:srgbClr val="5A7A77"/>
                </a:solidFill>
                <a:latin typeface="Calibri" pitchFamily="34" charset="0"/>
                <a:ea typeface="Calibri" pitchFamily="34" charset="-122"/>
                <a:cs typeface="Calibri" pitchFamily="34" charset="-120"/>
              </a:rPr>
              <a:t>Siamese  ·  2 years  ·  Spayed  ·  2024-06-01</a:t>
            </a:r>
            <a:endParaRPr lang="en-US" sz="950" dirty="0"/>
          </a:p>
        </p:txBody>
      </p:sp>
      <p:sp>
        <p:nvSpPr>
          <p:cNvPr id="48" name="Text 46"/>
          <p:cNvSpPr/>
          <p:nvPr/>
        </p:nvSpPr>
        <p:spPr>
          <a:xfrm>
            <a:off x="4937760" y="3959352"/>
            <a:ext cx="3566160" cy="219456"/>
          </a:xfrm>
          <a:prstGeom prst="rect">
            <a:avLst/>
          </a:prstGeom>
          <a:noFill/>
          <a:ln/>
        </p:spPr>
        <p:txBody>
          <a:bodyPr wrap="square" lIns="0" tIns="0" rIns="0" bIns="0" rtlCol="0" anchor="ctr"/>
          <a:lstStyle/>
          <a:p>
            <a:pPr indent="0" marL="0">
              <a:buNone/>
            </a:pPr>
            <a:r>
              <a:rPr lang="en-US" sz="900" b="1" dirty="0">
                <a:solidFill>
                  <a:srgbClr val="0A7E75"/>
                </a:solidFill>
                <a:latin typeface="Calibri" pitchFamily="34" charset="0"/>
                <a:ea typeface="Calibri" pitchFamily="34" charset="-122"/>
                <a:cs typeface="Calibri" pitchFamily="34" charset="-120"/>
              </a:rPr>
              <a:t>Vaccination History</a:t>
            </a:r>
            <a:endParaRPr lang="en-US" sz="900" dirty="0"/>
          </a:p>
        </p:txBody>
      </p:sp>
      <p:sp>
        <p:nvSpPr>
          <p:cNvPr id="49" name="Shape 47"/>
          <p:cNvSpPr/>
          <p:nvPr/>
        </p:nvSpPr>
        <p:spPr>
          <a:xfrm>
            <a:off x="4937760" y="4187952"/>
            <a:ext cx="3566160" cy="219456"/>
          </a:xfrm>
          <a:prstGeom prst="roundRect">
            <a:avLst/>
          </a:prstGeom>
          <a:solidFill>
            <a:srgbClr val="E8F5E9"/>
          </a:solidFill>
          <a:ln w="12700">
            <a:solidFill>
              <a:srgbClr val="A5D6A7"/>
            </a:solidFill>
            <a:prstDash val="solid"/>
          </a:ln>
        </p:spPr>
      </p:sp>
      <p:sp>
        <p:nvSpPr>
          <p:cNvPr id="50" name="Text 48"/>
          <p:cNvSpPr/>
          <p:nvPr/>
        </p:nvSpPr>
        <p:spPr>
          <a:xfrm>
            <a:off x="5029200" y="4197096"/>
            <a:ext cx="3383280" cy="201168"/>
          </a:xfrm>
          <a:prstGeom prst="rect">
            <a:avLst/>
          </a:prstGeom>
          <a:noFill/>
          <a:ln/>
        </p:spPr>
        <p:txBody>
          <a:bodyPr wrap="square" lIns="0" tIns="0" rIns="0" bIns="0" rtlCol="0" anchor="ctr"/>
          <a:lstStyle/>
          <a:p>
            <a:pPr indent="0" marL="0">
              <a:buNone/>
            </a:pPr>
            <a:r>
              <a:rPr lang="en-US" sz="900" dirty="0">
                <a:solidFill>
                  <a:srgbClr val="2E7D32"/>
                </a:solidFill>
                <a:latin typeface="Calibri" pitchFamily="34" charset="0"/>
                <a:ea typeface="Calibri" pitchFamily="34" charset="-122"/>
                <a:cs typeface="Calibri" pitchFamily="34" charset="-120"/>
              </a:rPr>
              <a:t>✅  Rabies  —  given 2025-03-15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3B38"/>
        </a:solidFill>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Portfolio &amp; Reflection</a:t>
            </a:r>
            <a:endParaRPr lang="en-US" sz="3200" dirty="0"/>
          </a:p>
        </p:txBody>
      </p:sp>
      <p:sp>
        <p:nvSpPr>
          <p:cNvPr id="3" name="Shape 1"/>
          <p:cNvSpPr/>
          <p:nvPr/>
        </p:nvSpPr>
        <p:spPr>
          <a:xfrm>
            <a:off x="457200" y="886968"/>
            <a:ext cx="8229600" cy="45720"/>
          </a:xfrm>
          <a:prstGeom prst="rect">
            <a:avLst/>
          </a:prstGeom>
          <a:solidFill>
            <a:srgbClr val="F4A543"/>
          </a:solidFill>
          <a:ln/>
        </p:spPr>
      </p:sp>
      <p:sp>
        <p:nvSpPr>
          <p:cNvPr id="4" name="Shape 2"/>
          <p:cNvSpPr/>
          <p:nvPr/>
        </p:nvSpPr>
        <p:spPr>
          <a:xfrm>
            <a:off x="457200" y="1097280"/>
            <a:ext cx="8229600" cy="640080"/>
          </a:xfrm>
          <a:prstGeom prst="roundRect">
            <a:avLst/>
          </a:prstGeom>
          <a:solidFill>
            <a:srgbClr val="0B1F1D"/>
          </a:solidFill>
          <a:ln w="19050">
            <a:solidFill>
              <a:srgbClr val="0A7E75"/>
            </a:solidFill>
            <a:prstDash val="solid"/>
          </a:ln>
        </p:spPr>
      </p:sp>
      <p:sp>
        <p:nvSpPr>
          <p:cNvPr id="5" name="Text 3"/>
          <p:cNvSpPr/>
          <p:nvPr/>
        </p:nvSpPr>
        <p:spPr>
          <a:xfrm>
            <a:off x="640080" y="1097280"/>
            <a:ext cx="7863840" cy="640080"/>
          </a:xfrm>
          <a:prstGeom prst="rect">
            <a:avLst/>
          </a:prstGeom>
          <a:noFill/>
          <a:ln/>
        </p:spPr>
        <p:txBody>
          <a:bodyPr wrap="square" lIns="0" tIns="0" rIns="0" bIns="0" rtlCol="0" anchor="ctr"/>
          <a:lstStyle/>
          <a:p>
            <a:pPr indent="0" marL="0">
              <a:buNone/>
            </a:pPr>
            <a:r>
              <a:rPr lang="en-US" sz="1400" dirty="0">
                <a:solidFill>
                  <a:srgbClr val="F4A543"/>
                </a:solidFill>
                <a:latin typeface="Consolas" pitchFamily="34" charset="0"/>
                <a:ea typeface="Consolas" pitchFamily="34" charset="-122"/>
                <a:cs typeface="Consolas" pitchFamily="34" charset="-120"/>
              </a:rPr>
              <a:t>🔗  github.com/Didosezer/applied-ai-system-project</a:t>
            </a:r>
            <a:endParaRPr lang="en-US" sz="1400" dirty="0"/>
          </a:p>
        </p:txBody>
      </p:sp>
      <p:sp>
        <p:nvSpPr>
          <p:cNvPr id="6" name="Text 4"/>
          <p:cNvSpPr/>
          <p:nvPr/>
        </p:nvSpPr>
        <p:spPr>
          <a:xfrm>
            <a:off x="457200" y="1920240"/>
            <a:ext cx="8229600" cy="365760"/>
          </a:xfrm>
          <a:prstGeom prst="rect">
            <a:avLst/>
          </a:prstGeom>
          <a:noFill/>
          <a:ln/>
        </p:spPr>
        <p:txBody>
          <a:bodyPr wrap="square" lIns="0" tIns="0" rIns="0" bIns="0" rtlCol="0" anchor="ctr"/>
          <a:lstStyle/>
          <a:p>
            <a:pPr indent="0" marL="0">
              <a:buNone/>
            </a:pPr>
            <a:r>
              <a:rPr lang="en-US" sz="1600" b="1" dirty="0">
                <a:solidFill>
                  <a:srgbClr val="A8CECA"/>
                </a:solidFill>
                <a:latin typeface="Trebuchet MS" pitchFamily="34" charset="0"/>
                <a:ea typeface="Trebuchet MS" pitchFamily="34" charset="-122"/>
                <a:cs typeface="Trebuchet MS" pitchFamily="34" charset="-120"/>
              </a:rPr>
              <a:t>Reflection</a:t>
            </a:r>
            <a:endParaRPr lang="en-US" sz="1600" dirty="0"/>
          </a:p>
        </p:txBody>
      </p:sp>
      <p:sp>
        <p:nvSpPr>
          <p:cNvPr id="7" name="Shape 5"/>
          <p:cNvSpPr/>
          <p:nvPr/>
        </p:nvSpPr>
        <p:spPr>
          <a:xfrm>
            <a:off x="457200" y="2286000"/>
            <a:ext cx="8229600" cy="2194560"/>
          </a:xfrm>
          <a:prstGeom prst="roundRect">
            <a:avLst/>
          </a:prstGeom>
          <a:solidFill>
            <a:srgbClr val="0B2825"/>
          </a:solidFill>
          <a:ln w="12700">
            <a:solidFill>
              <a:srgbClr val="1E4A45"/>
            </a:solidFill>
            <a:prstDash val="solid"/>
          </a:ln>
        </p:spPr>
      </p:sp>
      <p:sp>
        <p:nvSpPr>
          <p:cNvPr id="8" name="Text 6"/>
          <p:cNvSpPr/>
          <p:nvPr/>
        </p:nvSpPr>
        <p:spPr>
          <a:xfrm>
            <a:off x="731520" y="2377440"/>
            <a:ext cx="7863840" cy="2011680"/>
          </a:xfrm>
          <a:prstGeom prst="rect">
            <a:avLst/>
          </a:prstGeom>
          <a:noFill/>
          <a:ln/>
        </p:spPr>
        <p:txBody>
          <a:bodyPr wrap="square" lIns="63500" tIns="63500" rIns="63500" bIns="63500" rtlCol="0" anchor="t"/>
          <a:lstStyle/>
          <a:p>
            <a:pPr indent="0" marL="0">
              <a:buNone/>
            </a:pPr>
            <a:r>
              <a:rPr lang="en-US" sz="1250" dirty="0">
                <a:solidFill>
                  <a:srgbClr val="D0EEEB"/>
                </a:solidFill>
                <a:latin typeface="Calibri" pitchFamily="34" charset="0"/>
                <a:ea typeface="Calibri" pitchFamily="34" charset="-122"/>
                <a:cs typeface="Calibri" pitchFamily="34" charset="-120"/>
              </a:rPr>
              <a:t>This project demonstrates that I have the foundation to apply RAG techniques to solve real domain-specific problems — in this case, pet healthcare, where generic AI advice is not good enough. As an AI engineer, my goal was to make the application work as intelligently and as automatically as possible, while at the same time ensuring that the AI's outputs remain relevant and grounded in verified knowledge. At the final step, human confirmation is required before anything is saved — reducing hallucination and keeping the owner in control.</a:t>
            </a:r>
            <a:endParaRPr lang="en-US" sz="1250" dirty="0"/>
          </a:p>
          <a:p>
            <a:pPr indent="0" marL="0">
              <a:buNone/>
            </a:pPr>
            <a:endParaRPr lang="en-US" sz="1250" dirty="0"/>
          </a:p>
          <a:p>
            <a:pPr indent="0" marL="0">
              <a:buNone/>
            </a:pPr>
            <a:r>
              <a:rPr lang="en-US" sz="1250" dirty="0">
                <a:solidFill>
                  <a:srgbClr val="D0EEEB"/>
                </a:solidFill>
                <a:latin typeface="Calibri" pitchFamily="34" charset="0"/>
                <a:ea typeface="Calibri" pitchFamily="34" charset="-122"/>
                <a:cs typeface="Calibri" pitchFamily="34" charset="-120"/>
              </a:rPr>
              <a:t>Going forward, I want to explore more about system architecture: how to design good systems that use AI as a tool to genuinely help people solve problems, not just generate text.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PawPal+ AI System</dc:title>
  <dc:subject>PptxGenJS Presentation</dc:subject>
  <dc:creator>PptxGenJS</dc:creator>
  <cp:lastModifiedBy>PptxGenJS</cp:lastModifiedBy>
  <cp:revision>1</cp:revision>
  <dcterms:created xsi:type="dcterms:W3CDTF">2026-04-30T01:59:32Z</dcterms:created>
  <dcterms:modified xsi:type="dcterms:W3CDTF">2026-04-30T01:59:32Z</dcterms:modified>
</cp:coreProperties>
</file>